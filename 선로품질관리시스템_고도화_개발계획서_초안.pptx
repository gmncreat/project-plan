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2A43"/>
                </a:solidFill>
              </a:rPr>
              <a:t>SKT OTDR 선로품질관리시스템 고도화 개발 계획서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772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배경: SKT 기간망 OTDR 운영 고도화 및 EMS 연동 확대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작성자: 입력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날짜: 입력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95360" y="146304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3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D93A2B"/>
                </a:solidFill>
              </a:rPr>
              <a:t>SKT LOGO
삽입 영역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2A43"/>
                </a:solidFill>
              </a:rPr>
              <a:t>2. HUAWEI 장비 인벤토리 정보 조회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NCE REST API로 장비, 서비스 Port, OTDR Port 인벤토리 수집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인증 토큰, network-id, node-id, port-id, OTDR port-id 단계별 조회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Pagination 처리 공통 유틸과 SFTP 보조 연동으로 대량 데이터 수집 안정화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Link 분석, OTDR Port-서비스 Port 연관성 분석 후 OTDR DB 저장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저장된 인벤토리를 Web UI에서 조회하고, 선택적으로 Change Event 구독 반영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143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5AA6"/>
                </a:solidFill>
              </a:defRPr>
            </a:pPr>
            <a:r>
              <a:t>Overview 구조도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164592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22222"/>
                </a:solidFill>
              </a:rPr>
              <a:t>NCE REST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645920"/>
            <a:ext cx="146304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수집 모듈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743200"/>
            <a:ext cx="164592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분석 모듈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743200"/>
            <a:ext cx="146304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OTDR 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840480"/>
            <a:ext cx="164592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Web UI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0" y="1965960"/>
            <a:ext cx="45720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63840" y="3063240"/>
            <a:ext cx="45720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46720" y="228600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52560" y="228600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55279" y="338328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52560" y="338328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2A43"/>
                </a:solidFill>
              </a:rPr>
              <a:t>3. HUAWEI OTDR 측정 Profile 관리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Link 단위 OTDR 측정 Profile 생성/조회/수정/삭제 기능 제공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Default Profile 별도 관리로 미설정 Link에도 표준 정책 적용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관리 대상 핵심 필드: refractive-index, pulse-width, distance-range, detect-mode 등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UI에서 필드별 입력 범위, 단위, 권장값 설명 제공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추가 관리 권장 항목: 평균화 횟수, 샘플링 해상도, 파장, 알람 임계치 버전관리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143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5AA6"/>
                </a:solidFill>
              </a:defRPr>
            </a:pPr>
            <a:r>
              <a:t>Overview 구조도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146304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Web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645920"/>
            <a:ext cx="164592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Profile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743200"/>
            <a:ext cx="146304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Profile 정책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743200"/>
            <a:ext cx="164592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Default Profile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840480"/>
            <a:ext cx="164592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OTDR DB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0" y="1965960"/>
            <a:ext cx="45720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63840" y="3063240"/>
            <a:ext cx="45720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46720" y="228600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52560" y="228600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55279" y="338328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52560" y="338328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2A43"/>
                </a:solidFill>
              </a:rPr>
              <a:t>4. HUAWEI OTDR 측정 작업 실행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정기/장애/작업/Baseline 측정을 분리해 등록하고 공통 스케줄러에서 실행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대상 링 기준 Link, 장비, Port, Profile 구성정보를 조회해 작업 생성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우선순위와 동시성 제어를 고려한 Task 스케줄링 수행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NCE OTDR 측정 API 연동 후 Task 상태를 Polling 또는 Event 방식으로 관리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동시 측정 수, API 동시 호출 수 등 운영 파라미터를 설정 가능하게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143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5AA6"/>
                </a:solidFill>
              </a:defRPr>
            </a:pPr>
            <a:r>
              <a:t>Overview 구조도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146304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측정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645920"/>
            <a:ext cx="146304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스케줄러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743200"/>
            <a:ext cx="164592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Task 실행기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743200"/>
            <a:ext cx="164592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NCE OTDR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3840480"/>
            <a:ext cx="201168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상태관리/설정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0" y="1965960"/>
            <a:ext cx="45720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63840" y="3063240"/>
            <a:ext cx="45720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46720" y="228600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52560" y="228600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55279" y="338328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52560" y="338328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2A43"/>
                </a:solidFill>
              </a:rPr>
              <a:t>5. HUAWEI OTDR 측정 결과 조회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OTDR Task 응답과 SOR 파일을 수집하고 분석해 측정결과 테이블에 저장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표준 SOR 파일 파싱 기능을 통해 이벤트, 손실, 반사 특성 분석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기존 결과 조회 화면에 HUAWEI 결과를 통합 조회하도록 고도화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추가 분석 권장 항목: Event별 loss classification, 품질등급, 이상패턴 요약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운영자가 결과 비교와 이력 탐색을 쉽게 하도록 시각화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143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5AA6"/>
                </a:solidFill>
              </a:defRPr>
            </a:pPr>
            <a:r>
              <a:t>Overview 구조도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173736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NCE 결과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645920"/>
            <a:ext cx="137160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SOR 수집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743200"/>
            <a:ext cx="164592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결과 분석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743200"/>
            <a:ext cx="164592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측정결과 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3840480"/>
            <a:ext cx="182880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결과 조회 UI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0" y="1965960"/>
            <a:ext cx="45720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63840" y="3063240"/>
            <a:ext cx="45720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46720" y="228600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52560" y="228600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55279" y="338328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52560" y="338328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2A43"/>
                </a:solidFill>
              </a:rPr>
              <a:t>6. HUAWEI EMS 자동점검 조회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EMS가 자동 수행한 OTDR 측정 이력을 조회해 자동점검 결과를 수집/분석/저장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Task 이력 조회 범위를 관리해 중복 없이 주기 탐색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수동/자동 측정 혼재 환경에서 자동점검 Task 식별 로직 구현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대규모 Polling 부하를 줄이기 위해 실시간 이벤트 연동 방안 병행 검토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Web UI에서 자동점검 결과를 기존 화면과 연계 조회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143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5AA6"/>
                </a:solidFill>
              </a:defRPr>
            </a:pPr>
            <a:r>
              <a:t>Overview 구조도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173736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22222"/>
                </a:solidFill>
              </a:rPr>
              <a:t>EMS 자동점검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645920"/>
            <a:ext cx="155448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이력 탐색기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743200"/>
            <a:ext cx="173736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자동/수동 분류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743200"/>
            <a:ext cx="173736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결과 분석/저장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3840480"/>
            <a:ext cx="182880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자동점검 UI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0" y="1965960"/>
            <a:ext cx="45720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63840" y="3063240"/>
            <a:ext cx="45720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46720" y="228600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52560" y="228600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55279" y="338328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52560" y="338328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2A43"/>
                </a:solidFill>
              </a:rPr>
              <a:t>7. TANGO 링 정보, GIS 선번 정보 연동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수동 엑셀 업로드 기반 링 정보 갱신을 M2M 연동 방식으로 자동화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연동 대상은 Tango 링 정보와 GIS 선번 정보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REST API, Kafka, SFTP 등 협의된 규격에 맞춰 연동 모듈 개발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수신 데이터는 구성정보 테이블에 저장하고 Web UI 조회 기능 제공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GIS 선번 정보는 기존 링 정보 화면을 보완하는 신규 조회 화면으로 제공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143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5AA6"/>
                </a:solidFill>
              </a:defRPr>
            </a:pPr>
            <a:r>
              <a:t>Overview 구조도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164592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Tango/GIS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645920"/>
            <a:ext cx="173736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연동 규격 협의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743200"/>
            <a:ext cx="164592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연동 모듈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743200"/>
            <a:ext cx="164592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구성정보 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840480"/>
            <a:ext cx="164592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조회 UI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0" y="1965960"/>
            <a:ext cx="45720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63840" y="3063240"/>
            <a:ext cx="45720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46720" y="228600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52560" y="228600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55279" y="338328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52560" y="338328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2A43"/>
                </a:solidFill>
              </a:rPr>
              <a:t>8. NOKIA EMS 자동점검 조회 기능 개발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Kafka 기반 EMS 이벤트 연동으로 자동점검 측정 감지를 실시간화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SASL_SSL 인증, 이벤트 토픽 구독, OTDR 자동점검 이벤트 판별 구현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완료 이벤트 수신 후 측정결과와 SOR 파일을 수집/분석/저장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기존 JobList Polling 중심 구조 대비 부하를 줄이고 실시간성을 강화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자동점검 조회 화면은 사용자 요구사항을 반영해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143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5AA6"/>
                </a:solidFill>
              </a:defRPr>
            </a:pPr>
            <a:r>
              <a:t>Overview 구조도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164592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22222"/>
                </a:solidFill>
              </a:rPr>
              <a:t>NOKIA 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645920"/>
            <a:ext cx="146304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Kafka 연동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743200"/>
            <a:ext cx="164592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이벤트 판별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743200"/>
            <a:ext cx="173736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결과수집/저장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3840480"/>
            <a:ext cx="182880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자동점검 UI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0" y="1965960"/>
            <a:ext cx="45720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63840" y="3063240"/>
            <a:ext cx="45720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46720" y="228600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52560" y="228600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55279" y="338328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52560" y="338328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2A43"/>
                </a:solidFill>
              </a:rPr>
              <a:t>9. OTDR 선로 길이 보정 기능 개발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발신 장비 Source Port와 첫 번째 FDF 간 거리 정보를 Link 시작점에 반영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기존 FDF 위치를 보정 거리만큼 재계산해 Trace 상 위치 정확도 개선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Backend API 계산 로직과 응답 스키마 수정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OTDR Trace 그래프에서 보정된 FDF 위치를 시각적으로 표시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운영자가 실제 선로 길이와 그래프 차이를 빠르게 검증할 수 있도록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143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5AA6"/>
                </a:solidFill>
              </a:defRPr>
            </a:pPr>
            <a:r>
              <a:t>Overview 구조도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146304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거리정보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645920"/>
            <a:ext cx="146304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보정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743200"/>
            <a:ext cx="164592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위치 재계산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743200"/>
            <a:ext cx="164592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Trace 그래프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840480"/>
            <a:ext cx="164592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검증 UI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0" y="1965960"/>
            <a:ext cx="45720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63840" y="3063240"/>
            <a:ext cx="45720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46720" y="228600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52560" y="228600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55279" y="338328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52560" y="338328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2A43"/>
                </a:solidFill>
              </a:rPr>
              <a:t>10. OTDR 측정 결과 보고서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링 단위로 주기 보고서를 자동 생성하고 필요 시 수동 생성 지원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측정 기간, 측정 종류, 비교 대상 보고서를 기준으로 통계와 비교 정보 산출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자동 생성은 이전 주기와 비교, 수동 생성은 선택 기간/보고서와 비교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보고서 데이터는 DB 저장 후 Backend API와 Web UI로 조회 제공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정기 보고서 설정, 생성 주기, 대상 측정 종류를 운영자가 관리 가능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143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5AA6"/>
                </a:solidFill>
              </a:defRPr>
            </a:pPr>
            <a:r>
              <a:t>Overview 구조도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173736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22222"/>
                </a:solidFill>
              </a:rPr>
              <a:t>보고서 생성기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645920"/>
            <a:ext cx="155448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통계/비교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743200"/>
            <a:ext cx="164592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보고서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743200"/>
            <a:ext cx="146304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API/배치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840480"/>
            <a:ext cx="164592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1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22222"/>
                </a:solidFill>
              </a:rPr>
              <a:t>보고서 UI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0" y="1965960"/>
            <a:ext cx="45720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63840" y="3063240"/>
            <a:ext cx="45720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46720" y="228600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52560" y="228600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55279" y="338328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52560" y="3383280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2A43"/>
                </a:solidFill>
              </a:rPr>
              <a:t>11. 개발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93A2B"/>
                </a:solidFill>
              </a:defRPr>
            </a:pPr>
            <a:r>
              <a:t>※ 일정표 원본 xlsx를 현재 세션에서 직접 읽지 못해, 아래는 기능 기준 기본 계획표 템플릿입니다. xlsx 수치 반영 시 즉시 교체 가능합니다.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560320" cy="384048"/>
          </a:xfrm>
          <a:prstGeom prst="rect">
            <a:avLst/>
          </a:prstGeom>
          <a:solidFill>
            <a:srgbClr val="102A43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기능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1645920"/>
            <a:ext cx="1143000" cy="384048"/>
          </a:xfrm>
          <a:prstGeom prst="rect">
            <a:avLst/>
          </a:prstGeom>
          <a:solidFill>
            <a:srgbClr val="102A43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0520" y="1645920"/>
            <a:ext cx="1143000" cy="384048"/>
          </a:xfrm>
          <a:prstGeom prst="rect">
            <a:avLst/>
          </a:prstGeom>
          <a:solidFill>
            <a:srgbClr val="102A43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M+1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645920"/>
            <a:ext cx="1143000" cy="384048"/>
          </a:xfrm>
          <a:prstGeom prst="rect">
            <a:avLst/>
          </a:prstGeom>
          <a:solidFill>
            <a:srgbClr val="102A43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M+2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645920"/>
            <a:ext cx="1143000" cy="384048"/>
          </a:xfrm>
          <a:prstGeom prst="rect">
            <a:avLst/>
          </a:prstGeom>
          <a:solidFill>
            <a:srgbClr val="102A43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M+3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645920"/>
            <a:ext cx="1143000" cy="384048"/>
          </a:xfrm>
          <a:prstGeom prst="rect">
            <a:avLst/>
          </a:prstGeom>
          <a:solidFill>
            <a:srgbClr val="102A43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M+4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32520" y="1645920"/>
            <a:ext cx="1143000" cy="384048"/>
          </a:xfrm>
          <a:prstGeom prst="rect">
            <a:avLst/>
          </a:prstGeom>
          <a:solidFill>
            <a:srgbClr val="102A43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M+5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29968"/>
            <a:ext cx="2560320" cy="384048"/>
          </a:xfrm>
          <a:prstGeom prst="rect">
            <a:avLst/>
          </a:prstGeom>
          <a:solidFill>
            <a:srgbClr val="E6EEF8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22222"/>
                </a:solidFill>
              </a:rPr>
              <a:t>HUAWEI 인벤토리 정보 조회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029968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분석/설계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2029968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API 연동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2029968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분석로직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029968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DB/UI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2029968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고도화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2029968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안정화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14016"/>
            <a:ext cx="2560320" cy="384048"/>
          </a:xfrm>
          <a:prstGeom prst="rect">
            <a:avLst/>
          </a:prstGeom>
          <a:solidFill>
            <a:srgbClr val="E6EEF8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22222"/>
                </a:solidFill>
              </a:rPr>
              <a:t>HUAWEI Profile 관리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2414016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요건정의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414016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API 설계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2414016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CRUD 개발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414016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UI 개발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2414016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테스트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2520" y="2414016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반영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798064"/>
            <a:ext cx="2560320" cy="384048"/>
          </a:xfrm>
          <a:prstGeom prst="rect">
            <a:avLst/>
          </a:prstGeom>
          <a:solidFill>
            <a:srgbClr val="E6EEF8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22222"/>
                </a:solidFill>
              </a:rPr>
              <a:t>HUAWEI 측정 작업 실행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798064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설계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2798064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스케줄러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2798064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Task 실행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798064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상태관리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2798064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튜닝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32520" y="2798064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테스트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182112"/>
            <a:ext cx="2560320" cy="384048"/>
          </a:xfrm>
          <a:prstGeom prst="rect">
            <a:avLst/>
          </a:prstGeom>
          <a:solidFill>
            <a:srgbClr val="E6EEF8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22222"/>
                </a:solidFill>
              </a:rPr>
              <a:t>HUAWEI 결과 조회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3182112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설계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3182112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수집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0" y="3182112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SOR 분석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3182112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저장/UI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3182112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개선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2520" y="3182112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테스트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566160"/>
            <a:ext cx="2560320" cy="384048"/>
          </a:xfrm>
          <a:prstGeom prst="rect">
            <a:avLst/>
          </a:prstGeom>
          <a:solidFill>
            <a:srgbClr val="E6EEF8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22222"/>
                </a:solidFill>
              </a:rPr>
              <a:t>HUAWEI 자동점검 조회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3566160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설계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3566160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Polling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3566160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분류로직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46520" y="3566160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저장/UI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0" y="3566160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실시간 검토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32520" y="3566160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안정화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950208"/>
            <a:ext cx="2560320" cy="384048"/>
          </a:xfrm>
          <a:prstGeom prst="rect">
            <a:avLst/>
          </a:prstGeom>
          <a:solidFill>
            <a:srgbClr val="E6EEF8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22222"/>
                </a:solidFill>
              </a:rPr>
              <a:t>TANGO/GIS 연동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17520" y="3950208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협의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60520" y="3950208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규격정의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0" y="3950208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연동개발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46520" y="3950208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DB/UI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89520" y="3950208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테스트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32520" y="3950208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반영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334256"/>
            <a:ext cx="2560320" cy="384048"/>
          </a:xfrm>
          <a:prstGeom prst="rect">
            <a:avLst/>
          </a:prstGeom>
          <a:solidFill>
            <a:srgbClr val="E6EEF8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22222"/>
                </a:solidFill>
              </a:rPr>
              <a:t>NOKIA 자동점검 조회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334256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설계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60520" y="4334256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Kafka 연동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03520" y="4334256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결과수집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4334256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UI 개선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89520" y="4334256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테스트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4334256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반영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4718304"/>
            <a:ext cx="2560320" cy="384048"/>
          </a:xfrm>
          <a:prstGeom prst="rect">
            <a:avLst/>
          </a:prstGeom>
          <a:solidFill>
            <a:srgbClr val="E6EEF8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22222"/>
                </a:solidFill>
              </a:rPr>
              <a:t>선로 길이 보정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4718304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설계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60520" y="4718304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API 수정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03520" y="4718304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그래프 수정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46520" y="4718304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검증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89520" y="4718304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보완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732520" y="4718304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적용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102352"/>
            <a:ext cx="2560320" cy="384048"/>
          </a:xfrm>
          <a:prstGeom prst="rect">
            <a:avLst/>
          </a:prstGeom>
          <a:solidFill>
            <a:srgbClr val="E6EEF8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22222"/>
                </a:solidFill>
              </a:rPr>
              <a:t>결과 보고서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017520" y="5102352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설계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60520" y="5102352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통계로직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03520" y="5102352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배치/API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5102352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UI 개발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89520" y="5102352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테스트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732520" y="5102352"/>
            <a:ext cx="1143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반영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