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127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6062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02920"/>
            <a:ext cx="3840480" cy="6062472"/>
          </a:xfrm>
          <a:prstGeom prst="rect">
            <a:avLst/>
          </a:prstGeom>
          <a:solidFill>
            <a:srgbClr val="F6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138160" y="868680"/>
            <a:ext cx="3108960" cy="914400"/>
          </a:xfrm>
          <a:prstGeom prst="chevron">
            <a:avLst/>
          </a:prstGeom>
          <a:solidFill>
            <a:srgbClr val="D63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evron 6"/>
          <p:cNvSpPr/>
          <p:nvPr/>
        </p:nvSpPr>
        <p:spPr>
          <a:xfrm>
            <a:off x="8869680" y="1417320"/>
            <a:ext cx="2286000" cy="731520"/>
          </a:xfrm>
          <a:prstGeom prst="chevron">
            <a:avLst/>
          </a:prstGeom>
          <a:solidFill>
            <a:srgbClr val="F4A1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k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868680"/>
            <a:ext cx="2377440" cy="792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1920240"/>
            <a:ext cx="676656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2743"/>
                </a:solidFill>
              </a:rPr>
              <a:t>OTDR 선로품질관리시스템
고도화 개발 계획서</a:t>
            </a:r>
          </a:p>
          <a:p>
            <a:pPr>
              <a:defRPr sz="1500">
                <a:solidFill>
                  <a:srgbClr val="292929"/>
                </a:solidFill>
              </a:defRPr>
            </a:pPr>
            <a:r>
              <a:t>SKT 기간망 선로 품질관리 고도화 및 EMS 연동 확대</a:t>
            </a:r>
          </a:p>
          <a:p>
            <a:pPr>
              <a:defRPr sz="1500">
                <a:solidFill>
                  <a:srgbClr val="292929"/>
                </a:solidFill>
              </a:defRPr>
            </a:pPr>
            <a:r>
              <a:t>HUAWEI / NOKIA EMS 연계 기반 운영 체계 강화</a:t>
            </a:r>
          </a:p>
          <a:p>
            <a:pPr>
              <a:defRPr sz="1200">
                <a:solidFill>
                  <a:srgbClr val="292929"/>
                </a:solidFill>
              </a:defRPr>
            </a:pPr>
            <a:r>
              <a:t>작성자: 입력    날짜: 입력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2743200"/>
            <a:ext cx="2971800" cy="502920"/>
          </a:xfrm>
          <a:prstGeom prst="roundRect">
            <a:avLst/>
          </a:prstGeom>
          <a:solidFill>
            <a:srgbClr val="245CA5"/>
          </a:solidFill>
          <a:ln>
            <a:solidFill>
              <a:srgbClr val="245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인벤토리 자동수집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3493008"/>
            <a:ext cx="2971800" cy="502920"/>
          </a:xfrm>
          <a:prstGeom prst="roundRect">
            <a:avLst/>
          </a:prstGeom>
          <a:solidFill>
            <a:srgbClr val="359961"/>
          </a:solidFill>
          <a:ln>
            <a:solidFill>
              <a:srgbClr val="3599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OTDR 작업 자동화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4242816"/>
            <a:ext cx="2971800" cy="502920"/>
          </a:xfrm>
          <a:prstGeom prst="roundRect">
            <a:avLst/>
          </a:prstGeom>
          <a:solidFill>
            <a:srgbClr val="7159C1"/>
          </a:solidFill>
          <a:ln>
            <a:solidFill>
              <a:srgbClr val="715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결과 분석/보고서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127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12743"/>
                </a:solidFill>
              </a:rPr>
              <a:t>HUAWEI 장비 인벤토리 정보 조회 기능</a:t>
            </a:r>
          </a:p>
          <a:p>
            <a:pPr>
              <a:defRPr sz="1000">
                <a:solidFill>
                  <a:srgbClr val="667080"/>
                </a:solidFill>
              </a:defRPr>
            </a:pPr>
            <a:r>
              <a:t>인벤토리 수집, 분석, 저장, 조회의 End-to-End 자동화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502920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27048"/>
            <a:ext cx="1005840" cy="310896"/>
          </a:xfrm>
          <a:prstGeom prst="roundRect">
            <a:avLst/>
          </a:prstGeom>
          <a:solidFill>
            <a:srgbClr val="245CA5"/>
          </a:solidFill>
          <a:ln>
            <a:solidFill>
              <a:srgbClr val="245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핵심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965960"/>
            <a:ext cx="470916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장비/서비스 Port/OTDR Port 인벤토리 수집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network-id, node-id, port-id 단계별 조회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SFTP 보조 연계 및 Pagination 유틸 제공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657600"/>
            <a:ext cx="502920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3767328"/>
            <a:ext cx="1005840" cy="310896"/>
          </a:xfrm>
          <a:prstGeom prst="roundRect">
            <a:avLst/>
          </a:prstGeom>
          <a:solidFill>
            <a:srgbClr val="7159C1"/>
          </a:solidFill>
          <a:ln>
            <a:solidFill>
              <a:srgbClr val="715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보강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4206240"/>
            <a:ext cx="4709160" cy="1124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Link 분석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OTDR Port와 서비스 Port 연관성 분석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OTDR DB 저장 및 Web UI 조회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14173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45CA5"/>
                </a:solidFill>
              </a:defRPr>
            </a:pPr>
            <a:r>
              <a:t>상세 구조도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83080"/>
            <a:ext cx="1097280" cy="438912"/>
          </a:xfrm>
          <a:prstGeom prst="roundRect">
            <a:avLst/>
          </a:prstGeom>
          <a:solidFill>
            <a:srgbClr val="245CA5"/>
          </a:solidFill>
          <a:ln>
            <a:solidFill>
              <a:srgbClr val="245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NCE 인증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43800" y="1783080"/>
            <a:ext cx="1325880" cy="438912"/>
          </a:xfrm>
          <a:prstGeom prst="roundRect">
            <a:avLst/>
          </a:prstGeom>
          <a:solidFill>
            <a:srgbClr val="4FA4E3"/>
          </a:solidFill>
          <a:ln>
            <a:solidFill>
              <a:srgbClr val="4FA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인벤토리 API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1783080"/>
            <a:ext cx="1417320" cy="438912"/>
          </a:xfrm>
          <a:prstGeom prst="roundRect">
            <a:avLst/>
          </a:prstGeom>
          <a:solidFill>
            <a:srgbClr val="359961"/>
          </a:solidFill>
          <a:ln>
            <a:solidFill>
              <a:srgbClr val="3599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수집/정규화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03720" y="2743200"/>
            <a:ext cx="1234440" cy="438912"/>
          </a:xfrm>
          <a:prstGeom prst="roundRect">
            <a:avLst/>
          </a:prstGeom>
          <a:solidFill>
            <a:srgbClr val="7159C1"/>
          </a:solidFill>
          <a:ln>
            <a:solidFill>
              <a:srgbClr val="715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Link 분석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2743200"/>
            <a:ext cx="1417320" cy="438912"/>
          </a:xfrm>
          <a:prstGeom prst="roundRect">
            <a:avLst/>
          </a:prstGeom>
          <a:solidFill>
            <a:srgbClr val="F4A142"/>
          </a:solidFill>
          <a:ln>
            <a:solidFill>
              <a:srgbClr val="F4A1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Port 연관분석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35240" y="3749039"/>
            <a:ext cx="1234440" cy="438912"/>
          </a:xfrm>
          <a:prstGeom prst="roundRect">
            <a:avLst/>
          </a:prstGeom>
          <a:solidFill>
            <a:srgbClr val="D63F36"/>
          </a:solidFill>
          <a:ln>
            <a:solidFill>
              <a:srgbClr val="D63F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OTDR DB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26880" y="3749039"/>
            <a:ext cx="1097280" cy="438912"/>
          </a:xfrm>
          <a:prstGeom prst="roundRect">
            <a:avLst/>
          </a:prstGeom>
          <a:solidFill>
            <a:srgbClr val="245CA5"/>
          </a:solidFill>
          <a:ln>
            <a:solidFill>
              <a:srgbClr val="245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Web UI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315200" y="2011680"/>
            <a:ext cx="22860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869680" y="2011680"/>
            <a:ext cx="27432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00100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87552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7040880" y="2971800"/>
            <a:ext cx="41148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229600" y="2971800"/>
            <a:ext cx="41148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635240" y="3154680"/>
            <a:ext cx="41148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8503920" y="3154680"/>
            <a:ext cx="54864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127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12743"/>
                </a:solidFill>
              </a:rPr>
              <a:t>HUAWEI OTDR 측정 Profile 관리 기능</a:t>
            </a:r>
          </a:p>
          <a:p>
            <a:pPr>
              <a:defRPr sz="1000">
                <a:solidFill>
                  <a:srgbClr val="667080"/>
                </a:solidFill>
              </a:defRPr>
            </a:pPr>
            <a:r>
              <a:t>측정 Profile 표준화와 Default 정책 기반 운영 일관성 확보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502920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27048"/>
            <a:ext cx="1005840" cy="310896"/>
          </a:xfrm>
          <a:prstGeom prst="roundRect">
            <a:avLst/>
          </a:prstGeom>
          <a:solidFill>
            <a:srgbClr val="245CA5"/>
          </a:solidFill>
          <a:ln>
            <a:solidFill>
              <a:srgbClr val="245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핵심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965960"/>
            <a:ext cx="470916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Profile 생성/조회/수정/삭제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Default Profile 정책 관리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측정 작업 생성 시 API 파라미터 전달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657600"/>
            <a:ext cx="502920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3767328"/>
            <a:ext cx="1005840" cy="310896"/>
          </a:xfrm>
          <a:prstGeom prst="roundRect">
            <a:avLst/>
          </a:prstGeom>
          <a:solidFill>
            <a:srgbClr val="7159C1"/>
          </a:solidFill>
          <a:ln>
            <a:solidFill>
              <a:srgbClr val="715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보강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4206240"/>
            <a:ext cx="4709160" cy="1124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평균화 횟수, 샘플링 해상도 확장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파장 선택값, 임계치 버전 관리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필드별 허용 범위와 권장값 안내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14173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45CA5"/>
                </a:solidFill>
              </a:defRPr>
            </a:pPr>
            <a:r>
              <a:t>상세 구조도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83080"/>
            <a:ext cx="1097280" cy="438912"/>
          </a:xfrm>
          <a:prstGeom prst="roundRect">
            <a:avLst/>
          </a:prstGeom>
          <a:solidFill>
            <a:srgbClr val="245CA5"/>
          </a:solidFill>
          <a:ln>
            <a:solidFill>
              <a:srgbClr val="245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Web UI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43800" y="1783080"/>
            <a:ext cx="1325880" cy="438912"/>
          </a:xfrm>
          <a:prstGeom prst="roundRect">
            <a:avLst/>
          </a:prstGeom>
          <a:solidFill>
            <a:srgbClr val="4FA4E3"/>
          </a:solidFill>
          <a:ln>
            <a:solidFill>
              <a:srgbClr val="4FA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Profile API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1783080"/>
            <a:ext cx="1280160" cy="438912"/>
          </a:xfrm>
          <a:prstGeom prst="roundRect">
            <a:avLst/>
          </a:prstGeom>
          <a:solidFill>
            <a:srgbClr val="359961"/>
          </a:solidFill>
          <a:ln>
            <a:solidFill>
              <a:srgbClr val="3599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정책관리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03720" y="2743200"/>
            <a:ext cx="1325880" cy="438912"/>
          </a:xfrm>
          <a:prstGeom prst="roundRect">
            <a:avLst/>
          </a:prstGeom>
          <a:solidFill>
            <a:srgbClr val="7159C1"/>
          </a:solidFill>
          <a:ln>
            <a:solidFill>
              <a:srgbClr val="715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기본값 적용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2743200"/>
            <a:ext cx="1417320" cy="438912"/>
          </a:xfrm>
          <a:prstGeom prst="roundRect">
            <a:avLst/>
          </a:prstGeom>
          <a:solidFill>
            <a:srgbClr val="F4A142"/>
          </a:solidFill>
          <a:ln>
            <a:solidFill>
              <a:srgbClr val="F4A1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파라미터 검증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35240" y="3749039"/>
            <a:ext cx="1234440" cy="438912"/>
          </a:xfrm>
          <a:prstGeom prst="roundRect">
            <a:avLst/>
          </a:prstGeom>
          <a:solidFill>
            <a:srgbClr val="D63F36"/>
          </a:solidFill>
          <a:ln>
            <a:solidFill>
              <a:srgbClr val="D63F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OTDR DB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0" y="2011680"/>
            <a:ext cx="22860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869680" y="2011680"/>
            <a:ext cx="27432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00100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87552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7040880" y="2971800"/>
            <a:ext cx="41148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229600" y="2971800"/>
            <a:ext cx="41148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35240" y="3154680"/>
            <a:ext cx="41148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8503920" y="3154680"/>
            <a:ext cx="54864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127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12743"/>
                </a:solidFill>
              </a:rPr>
              <a:t>HUAWEI OTDR 측정 작업 실행 기능</a:t>
            </a:r>
          </a:p>
          <a:p>
            <a:pPr>
              <a:defRPr sz="1000">
                <a:solidFill>
                  <a:srgbClr val="667080"/>
                </a:solidFill>
              </a:defRPr>
            </a:pPr>
            <a:r>
              <a:t>측정 등록부터 스케줄링, 실행, 상태 관리까지 자동화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502920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27048"/>
            <a:ext cx="1005840" cy="310896"/>
          </a:xfrm>
          <a:prstGeom prst="roundRect">
            <a:avLst/>
          </a:prstGeom>
          <a:solidFill>
            <a:srgbClr val="245CA5"/>
          </a:solidFill>
          <a:ln>
            <a:solidFill>
              <a:srgbClr val="245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핵심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965960"/>
            <a:ext cx="470916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정기/장애/작업/Baseline 측정 분리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우선순위/동시성 기반 스케줄링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Polling 또는 Event 기반 상태 관리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657600"/>
            <a:ext cx="502920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3767328"/>
            <a:ext cx="1005840" cy="310896"/>
          </a:xfrm>
          <a:prstGeom prst="roundRect">
            <a:avLst/>
          </a:prstGeom>
          <a:solidFill>
            <a:srgbClr val="7159C1"/>
          </a:solidFill>
          <a:ln>
            <a:solidFill>
              <a:srgbClr val="715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보강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4206240"/>
            <a:ext cx="4709160" cy="1124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OTDR 동시 측정 수 제한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API 동시 호출 제한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유형별 스케줄러 옵션 설정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14173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45CA5"/>
                </a:solidFill>
              </a:defRPr>
            </a:pPr>
            <a:r>
              <a:t>상세 구조도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83080"/>
            <a:ext cx="1234440" cy="438912"/>
          </a:xfrm>
          <a:prstGeom prst="roundRect">
            <a:avLst/>
          </a:prstGeom>
          <a:solidFill>
            <a:srgbClr val="245CA5"/>
          </a:solidFill>
          <a:ln>
            <a:solidFill>
              <a:srgbClr val="245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측정등록 UI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1783080"/>
            <a:ext cx="1325880" cy="438912"/>
          </a:xfrm>
          <a:prstGeom prst="roundRect">
            <a:avLst/>
          </a:prstGeom>
          <a:solidFill>
            <a:srgbClr val="4FA4E3"/>
          </a:solidFill>
          <a:ln>
            <a:solidFill>
              <a:srgbClr val="4FA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구성정보 조회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26880" y="1783080"/>
            <a:ext cx="1143000" cy="438912"/>
          </a:xfrm>
          <a:prstGeom prst="roundRect">
            <a:avLst/>
          </a:prstGeom>
          <a:solidFill>
            <a:srgbClr val="359961"/>
          </a:solidFill>
          <a:ln>
            <a:solidFill>
              <a:srgbClr val="3599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스케줄러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0" y="2743200"/>
            <a:ext cx="1188720" cy="438912"/>
          </a:xfrm>
          <a:prstGeom prst="roundRect">
            <a:avLst/>
          </a:prstGeom>
          <a:solidFill>
            <a:srgbClr val="7159C1"/>
          </a:solidFill>
          <a:ln>
            <a:solidFill>
              <a:srgbClr val="715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Task 실행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03920" y="2743200"/>
            <a:ext cx="1188720" cy="438912"/>
          </a:xfrm>
          <a:prstGeom prst="roundRect">
            <a:avLst/>
          </a:prstGeom>
          <a:solidFill>
            <a:srgbClr val="F4A142"/>
          </a:solidFill>
          <a:ln>
            <a:solidFill>
              <a:srgbClr val="F4A1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상태관리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3749039"/>
            <a:ext cx="1325880" cy="438912"/>
          </a:xfrm>
          <a:prstGeom prst="roundRect">
            <a:avLst/>
          </a:prstGeom>
          <a:solidFill>
            <a:srgbClr val="D63F36"/>
          </a:solidFill>
          <a:ln>
            <a:solidFill>
              <a:srgbClr val="D63F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NCE OTDR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0" y="2011680"/>
            <a:ext cx="22860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869680" y="2011680"/>
            <a:ext cx="27432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00100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87552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7040880" y="2971800"/>
            <a:ext cx="41148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229600" y="2971800"/>
            <a:ext cx="41148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35240" y="3154680"/>
            <a:ext cx="41148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8503920" y="3154680"/>
            <a:ext cx="54864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127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12743"/>
                </a:solidFill>
              </a:rPr>
              <a:t>HUAWEI OTDR 측정 결과 조회 기능</a:t>
            </a:r>
          </a:p>
          <a:p>
            <a:pPr>
              <a:defRPr sz="1000">
                <a:solidFill>
                  <a:srgbClr val="667080"/>
                </a:solidFill>
              </a:defRPr>
            </a:pPr>
            <a:r>
              <a:t>측정 결과와 SOR 파일을 통합 분석하여 운영 가시성 강화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502920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27048"/>
            <a:ext cx="1005840" cy="310896"/>
          </a:xfrm>
          <a:prstGeom prst="roundRect">
            <a:avLst/>
          </a:prstGeom>
          <a:solidFill>
            <a:srgbClr val="245CA5"/>
          </a:solidFill>
          <a:ln>
            <a:solidFill>
              <a:srgbClr val="245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핵심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965960"/>
            <a:ext cx="470916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Task 응답과 SOR 파일 수집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표준 SOR 파일 파싱 및 결과 저장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기존 조회 화면에 HUAWEI 결과 통합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657600"/>
            <a:ext cx="502920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3767328"/>
            <a:ext cx="1005840" cy="310896"/>
          </a:xfrm>
          <a:prstGeom prst="roundRect">
            <a:avLst/>
          </a:prstGeom>
          <a:solidFill>
            <a:srgbClr val="7159C1"/>
          </a:solidFill>
          <a:ln>
            <a:solidFill>
              <a:srgbClr val="715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보강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4206240"/>
            <a:ext cx="4709160" cy="1124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Event별 loss classification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품질 등급 및 이상패턴 요약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비교 탐색과 시각화 강화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14173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45CA5"/>
                </a:solidFill>
              </a:defRPr>
            </a:pPr>
            <a:r>
              <a:t>상세 구조도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83080"/>
            <a:ext cx="1097280" cy="438912"/>
          </a:xfrm>
          <a:prstGeom prst="roundRect">
            <a:avLst/>
          </a:prstGeom>
          <a:solidFill>
            <a:srgbClr val="245CA5"/>
          </a:solidFill>
          <a:ln>
            <a:solidFill>
              <a:srgbClr val="245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결과 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43800" y="1783080"/>
            <a:ext cx="1143000" cy="438912"/>
          </a:xfrm>
          <a:prstGeom prst="roundRect">
            <a:avLst/>
          </a:prstGeom>
          <a:solidFill>
            <a:srgbClr val="4FA4E3"/>
          </a:solidFill>
          <a:ln>
            <a:solidFill>
              <a:srgbClr val="4FA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SOR 수집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1783080"/>
            <a:ext cx="1280160" cy="438912"/>
          </a:xfrm>
          <a:prstGeom prst="roundRect">
            <a:avLst/>
          </a:prstGeom>
          <a:solidFill>
            <a:srgbClr val="359961"/>
          </a:solidFill>
          <a:ln>
            <a:solidFill>
              <a:srgbClr val="3599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파싱/분석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0" y="2743200"/>
            <a:ext cx="1234440" cy="438912"/>
          </a:xfrm>
          <a:prstGeom prst="roundRect">
            <a:avLst/>
          </a:prstGeom>
          <a:solidFill>
            <a:srgbClr val="7159C1"/>
          </a:solidFill>
          <a:ln>
            <a:solidFill>
              <a:srgbClr val="715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결과 저장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2743200"/>
            <a:ext cx="1280160" cy="438912"/>
          </a:xfrm>
          <a:prstGeom prst="roundRect">
            <a:avLst/>
          </a:prstGeom>
          <a:solidFill>
            <a:srgbClr val="F4A142"/>
          </a:solidFill>
          <a:ln>
            <a:solidFill>
              <a:srgbClr val="F4A1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통합 조회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26679" y="3749039"/>
            <a:ext cx="1325880" cy="438912"/>
          </a:xfrm>
          <a:prstGeom prst="roundRect">
            <a:avLst/>
          </a:prstGeom>
          <a:solidFill>
            <a:srgbClr val="D63F36"/>
          </a:solidFill>
          <a:ln>
            <a:solidFill>
              <a:srgbClr val="D63F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비교/이력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0" y="2011680"/>
            <a:ext cx="22860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869680" y="2011680"/>
            <a:ext cx="27432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00100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87552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7040880" y="2971800"/>
            <a:ext cx="41148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229600" y="2971800"/>
            <a:ext cx="41148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35240" y="3154680"/>
            <a:ext cx="41148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8503920" y="3154680"/>
            <a:ext cx="54864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127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12743"/>
                </a:solidFill>
              </a:rPr>
              <a:t>HUAWEI EMS 자동점검 조회 기능</a:t>
            </a:r>
          </a:p>
          <a:p>
            <a:pPr>
              <a:defRPr sz="1000">
                <a:solidFill>
                  <a:srgbClr val="667080"/>
                </a:solidFill>
              </a:defRPr>
            </a:pPr>
            <a:r>
              <a:t>자동점검 이력 탐색과 결과 저장을 자동화해 운영 부하 절감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502920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27048"/>
            <a:ext cx="1005840" cy="310896"/>
          </a:xfrm>
          <a:prstGeom prst="roundRect">
            <a:avLst/>
          </a:prstGeom>
          <a:solidFill>
            <a:srgbClr val="245CA5"/>
          </a:solidFill>
          <a:ln>
            <a:solidFill>
              <a:srgbClr val="245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핵심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965960"/>
            <a:ext cx="470916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주기 Polling 기반 자동점검 이력 탐색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자동/수동 측정 혼재 환경 분류 로직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자동점검 결과 수집/분석/저장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657600"/>
            <a:ext cx="502920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3767328"/>
            <a:ext cx="1005840" cy="310896"/>
          </a:xfrm>
          <a:prstGeom prst="roundRect">
            <a:avLst/>
          </a:prstGeom>
          <a:solidFill>
            <a:srgbClr val="7159C1"/>
          </a:solidFill>
          <a:ln>
            <a:solidFill>
              <a:srgbClr val="715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보강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4206240"/>
            <a:ext cx="4709160" cy="1124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조회 시간범위 관리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실시간 이벤트 연동 검토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조회 주기 설정 기능 제공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14173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45CA5"/>
                </a:solidFill>
              </a:defRPr>
            </a:pPr>
            <a:r>
              <a:t>상세 구조도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83080"/>
            <a:ext cx="1097280" cy="438912"/>
          </a:xfrm>
          <a:prstGeom prst="roundRect">
            <a:avLst/>
          </a:prstGeom>
          <a:solidFill>
            <a:srgbClr val="245CA5"/>
          </a:solidFill>
          <a:ln>
            <a:solidFill>
              <a:srgbClr val="245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EMS 이력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43800" y="1783080"/>
            <a:ext cx="1325880" cy="438912"/>
          </a:xfrm>
          <a:prstGeom prst="roundRect">
            <a:avLst/>
          </a:prstGeom>
          <a:solidFill>
            <a:srgbClr val="4FA4E3"/>
          </a:solidFill>
          <a:ln>
            <a:solidFill>
              <a:srgbClr val="4FA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Polling 탐색기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1783080"/>
            <a:ext cx="1417320" cy="438912"/>
          </a:xfrm>
          <a:prstGeom prst="roundRect">
            <a:avLst/>
          </a:prstGeom>
          <a:solidFill>
            <a:srgbClr val="359961"/>
          </a:solidFill>
          <a:ln>
            <a:solidFill>
              <a:srgbClr val="3599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자동점검 분류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95160" y="2743200"/>
            <a:ext cx="1234440" cy="438912"/>
          </a:xfrm>
          <a:prstGeom prst="roundRect">
            <a:avLst/>
          </a:prstGeom>
          <a:solidFill>
            <a:srgbClr val="7159C1"/>
          </a:solidFill>
          <a:ln>
            <a:solidFill>
              <a:srgbClr val="715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결과 저장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2743200"/>
            <a:ext cx="1371600" cy="438912"/>
          </a:xfrm>
          <a:prstGeom prst="roundRect">
            <a:avLst/>
          </a:prstGeom>
          <a:solidFill>
            <a:srgbClr val="F4A142"/>
          </a:solidFill>
          <a:ln>
            <a:solidFill>
              <a:srgbClr val="F4A1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실시간 연동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26679" y="3749039"/>
            <a:ext cx="1234440" cy="438912"/>
          </a:xfrm>
          <a:prstGeom prst="roundRect">
            <a:avLst/>
          </a:prstGeom>
          <a:solidFill>
            <a:srgbClr val="D63F36"/>
          </a:solidFill>
          <a:ln>
            <a:solidFill>
              <a:srgbClr val="D63F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조회 UI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0" y="2011680"/>
            <a:ext cx="22860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869680" y="2011680"/>
            <a:ext cx="27432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00100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87552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7040880" y="2971800"/>
            <a:ext cx="41148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229600" y="2971800"/>
            <a:ext cx="41148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35240" y="3154680"/>
            <a:ext cx="41148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8503920" y="3154680"/>
            <a:ext cx="54864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127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12743"/>
                </a:solidFill>
              </a:rPr>
              <a:t>TANGO 링 정보, GIS 선번 정보 연동 기능</a:t>
            </a:r>
          </a:p>
          <a:p>
            <a:pPr>
              <a:defRPr sz="1000">
                <a:solidFill>
                  <a:srgbClr val="667080"/>
                </a:solidFill>
              </a:defRPr>
            </a:pPr>
            <a:r>
              <a:t>수동 업로드를 M2M 연동으로 전환해 구성정보 최신성 확보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502920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27048"/>
            <a:ext cx="1005840" cy="310896"/>
          </a:xfrm>
          <a:prstGeom prst="roundRect">
            <a:avLst/>
          </a:prstGeom>
          <a:solidFill>
            <a:srgbClr val="245CA5"/>
          </a:solidFill>
          <a:ln>
            <a:solidFill>
              <a:srgbClr val="245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핵심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965960"/>
            <a:ext cx="470916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Tango 링 정보, GIS 선번 정보 연동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REST API/Kafka/SFTP 규격 협의 후 구현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연동 데이터 저장 및 조회 화면 제공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657600"/>
            <a:ext cx="502920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3767328"/>
            <a:ext cx="1005840" cy="310896"/>
          </a:xfrm>
          <a:prstGeom prst="roundRect">
            <a:avLst/>
          </a:prstGeom>
          <a:solidFill>
            <a:srgbClr val="7159C1"/>
          </a:solidFill>
          <a:ln>
            <a:solidFill>
              <a:srgbClr val="715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보강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4206240"/>
            <a:ext cx="4709160" cy="1124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수동 업로드 제거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구성정보 최신성 확보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운영자 조회 편의성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14173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45CA5"/>
                </a:solidFill>
              </a:defRPr>
            </a:pPr>
            <a:r>
              <a:t>상세 구조도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83080"/>
            <a:ext cx="1143000" cy="438912"/>
          </a:xfrm>
          <a:prstGeom prst="roundRect">
            <a:avLst/>
          </a:prstGeom>
          <a:solidFill>
            <a:srgbClr val="245CA5"/>
          </a:solidFill>
          <a:ln>
            <a:solidFill>
              <a:srgbClr val="245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Tango/GIS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1783080"/>
            <a:ext cx="1188720" cy="438912"/>
          </a:xfrm>
          <a:prstGeom prst="roundRect">
            <a:avLst/>
          </a:prstGeom>
          <a:solidFill>
            <a:srgbClr val="4FA4E3"/>
          </a:solidFill>
          <a:ln>
            <a:solidFill>
              <a:srgbClr val="4FA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연동 규격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8280" y="1783080"/>
            <a:ext cx="1234440" cy="438912"/>
          </a:xfrm>
          <a:prstGeom prst="roundRect">
            <a:avLst/>
          </a:prstGeom>
          <a:solidFill>
            <a:srgbClr val="359961"/>
          </a:solidFill>
          <a:ln>
            <a:solidFill>
              <a:srgbClr val="3599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연동 모듈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40880" y="2743200"/>
            <a:ext cx="1325880" cy="438912"/>
          </a:xfrm>
          <a:prstGeom prst="roundRect">
            <a:avLst/>
          </a:prstGeom>
          <a:solidFill>
            <a:srgbClr val="7159C1"/>
          </a:solidFill>
          <a:ln>
            <a:solidFill>
              <a:srgbClr val="715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구성정보 DB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32520" y="2743200"/>
            <a:ext cx="1097280" cy="438912"/>
          </a:xfrm>
          <a:prstGeom prst="roundRect">
            <a:avLst/>
          </a:prstGeom>
          <a:solidFill>
            <a:srgbClr val="F4A142"/>
          </a:solidFill>
          <a:ln>
            <a:solidFill>
              <a:srgbClr val="F4A1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조회 UI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26679" y="3749039"/>
            <a:ext cx="1417320" cy="438912"/>
          </a:xfrm>
          <a:prstGeom prst="roundRect">
            <a:avLst/>
          </a:prstGeom>
          <a:solidFill>
            <a:srgbClr val="D63F36"/>
          </a:solidFill>
          <a:ln>
            <a:solidFill>
              <a:srgbClr val="D63F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자동화 운영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0" y="2011680"/>
            <a:ext cx="22860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869680" y="2011680"/>
            <a:ext cx="27432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00100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87552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7040880" y="2971800"/>
            <a:ext cx="41148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229600" y="2971800"/>
            <a:ext cx="41148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35240" y="3154680"/>
            <a:ext cx="41148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8503920" y="3154680"/>
            <a:ext cx="54864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127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12743"/>
                </a:solidFill>
              </a:rPr>
              <a:t>NOKIA EMS 자동점검 조회 기능 개발</a:t>
            </a:r>
          </a:p>
          <a:p>
            <a:pPr>
              <a:defRPr sz="1000">
                <a:solidFill>
                  <a:srgbClr val="667080"/>
                </a:solidFill>
              </a:defRPr>
            </a:pPr>
            <a:r>
              <a:t>Kafka 이벤트 기반 연동으로 자동점검 실시간성 확보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502920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27048"/>
            <a:ext cx="1005840" cy="310896"/>
          </a:xfrm>
          <a:prstGeom prst="roundRect">
            <a:avLst/>
          </a:prstGeom>
          <a:solidFill>
            <a:srgbClr val="245CA5"/>
          </a:solidFill>
          <a:ln>
            <a:solidFill>
              <a:srgbClr val="245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핵심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965960"/>
            <a:ext cx="470916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Kafka SASL_SSL 인증과 이벤트 토픽 연동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자동점검 이벤트 판별 및 결과 수집 모듈 전달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SOR 포함 측정결과 저장 및 화면 개선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657600"/>
            <a:ext cx="502920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3767328"/>
            <a:ext cx="1005840" cy="310896"/>
          </a:xfrm>
          <a:prstGeom prst="roundRect">
            <a:avLst/>
          </a:prstGeom>
          <a:solidFill>
            <a:srgbClr val="7159C1"/>
          </a:solidFill>
          <a:ln>
            <a:solidFill>
              <a:srgbClr val="715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보강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4206240"/>
            <a:ext cx="4709160" cy="1124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Polling 부하 절감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실시간 탐지 강화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기존 화면 고도화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14173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45CA5"/>
                </a:solidFill>
              </a:defRPr>
            </a:pPr>
            <a:r>
              <a:t>상세 구조도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83080"/>
            <a:ext cx="1188720" cy="438912"/>
          </a:xfrm>
          <a:prstGeom prst="roundRect">
            <a:avLst/>
          </a:prstGeom>
          <a:solidFill>
            <a:srgbClr val="245CA5"/>
          </a:solidFill>
          <a:ln>
            <a:solidFill>
              <a:srgbClr val="245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Kafka 인증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1783080"/>
            <a:ext cx="1188720" cy="438912"/>
          </a:xfrm>
          <a:prstGeom prst="roundRect">
            <a:avLst/>
          </a:prstGeom>
          <a:solidFill>
            <a:srgbClr val="4FA4E3"/>
          </a:solidFill>
          <a:ln>
            <a:solidFill>
              <a:srgbClr val="4FA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이벤트 구독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1783080"/>
            <a:ext cx="1417320" cy="438912"/>
          </a:xfrm>
          <a:prstGeom prst="roundRect">
            <a:avLst/>
          </a:prstGeom>
          <a:solidFill>
            <a:srgbClr val="359961"/>
          </a:solidFill>
          <a:ln>
            <a:solidFill>
              <a:srgbClr val="3599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자동점검 판별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40880" y="2743200"/>
            <a:ext cx="1234440" cy="438912"/>
          </a:xfrm>
          <a:prstGeom prst="roundRect">
            <a:avLst/>
          </a:prstGeom>
          <a:solidFill>
            <a:srgbClr val="7159C1"/>
          </a:solidFill>
          <a:ln>
            <a:solidFill>
              <a:srgbClr val="715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결과 수집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0" y="2743200"/>
            <a:ext cx="1143000" cy="438912"/>
          </a:xfrm>
          <a:prstGeom prst="roundRect">
            <a:avLst/>
          </a:prstGeom>
          <a:solidFill>
            <a:srgbClr val="F4A142"/>
          </a:solidFill>
          <a:ln>
            <a:solidFill>
              <a:srgbClr val="F4A1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SOR 분석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3749039"/>
            <a:ext cx="1143000" cy="438912"/>
          </a:xfrm>
          <a:prstGeom prst="roundRect">
            <a:avLst/>
          </a:prstGeom>
          <a:solidFill>
            <a:srgbClr val="D63F36"/>
          </a:solidFill>
          <a:ln>
            <a:solidFill>
              <a:srgbClr val="D63F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조회 UI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0" y="2011680"/>
            <a:ext cx="22860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869680" y="2011680"/>
            <a:ext cx="27432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00100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87552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7040880" y="2971800"/>
            <a:ext cx="41148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229600" y="2971800"/>
            <a:ext cx="41148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35240" y="3154680"/>
            <a:ext cx="41148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8503920" y="3154680"/>
            <a:ext cx="54864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127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12743"/>
                </a:solidFill>
              </a:rPr>
              <a:t>OTDR 선로 길이 보정 기능 개발</a:t>
            </a:r>
          </a:p>
          <a:p>
            <a:pPr>
              <a:defRPr sz="1000">
                <a:solidFill>
                  <a:srgbClr val="667080"/>
                </a:solidFill>
              </a:defRPr>
            </a:pPr>
            <a:r>
              <a:t>거리 보정 기반 Trace 정확도 향상과 운영 검증 편의성 강화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502920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27048"/>
            <a:ext cx="1005840" cy="310896"/>
          </a:xfrm>
          <a:prstGeom prst="roundRect">
            <a:avLst/>
          </a:prstGeom>
          <a:solidFill>
            <a:srgbClr val="245CA5"/>
          </a:solidFill>
          <a:ln>
            <a:solidFill>
              <a:srgbClr val="245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핵심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965960"/>
            <a:ext cx="470916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Source Port~첫 FDF 거리 추가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FDF 위치 보정 계산 로직 적용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보정 위치를 OTDR Trace 그래프에 반영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657600"/>
            <a:ext cx="502920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3767328"/>
            <a:ext cx="1005840" cy="310896"/>
          </a:xfrm>
          <a:prstGeom prst="roundRect">
            <a:avLst/>
          </a:prstGeom>
          <a:solidFill>
            <a:srgbClr val="7159C1"/>
          </a:solidFill>
          <a:ln>
            <a:solidFill>
              <a:srgbClr val="715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보강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4206240"/>
            <a:ext cx="4709160" cy="1124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실제 선로 거리와 정합성 향상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분석 정확도 개선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운영 검증 편의성 강화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14173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45CA5"/>
                </a:solidFill>
              </a:defRPr>
            </a:pPr>
            <a:r>
              <a:t>상세 구조도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83080"/>
            <a:ext cx="1097280" cy="438912"/>
          </a:xfrm>
          <a:prstGeom prst="roundRect">
            <a:avLst/>
          </a:prstGeom>
          <a:solidFill>
            <a:srgbClr val="245CA5"/>
          </a:solidFill>
          <a:ln>
            <a:solidFill>
              <a:srgbClr val="245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거리정보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43800" y="1783080"/>
            <a:ext cx="1188720" cy="438912"/>
          </a:xfrm>
          <a:prstGeom prst="roundRect">
            <a:avLst/>
          </a:prstGeom>
          <a:solidFill>
            <a:srgbClr val="4FA4E3"/>
          </a:solidFill>
          <a:ln>
            <a:solidFill>
              <a:srgbClr val="4FA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보정 계산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1783080"/>
            <a:ext cx="1097280" cy="438912"/>
          </a:xfrm>
          <a:prstGeom prst="roundRect">
            <a:avLst/>
          </a:prstGeom>
          <a:solidFill>
            <a:srgbClr val="359961"/>
          </a:solidFill>
          <a:ln>
            <a:solidFill>
              <a:srgbClr val="3599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API 수정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95160" y="2743200"/>
            <a:ext cx="1188720" cy="438912"/>
          </a:xfrm>
          <a:prstGeom prst="roundRect">
            <a:avLst/>
          </a:prstGeom>
          <a:solidFill>
            <a:srgbClr val="7159C1"/>
          </a:solidFill>
          <a:ln>
            <a:solidFill>
              <a:srgbClr val="715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Trace 적용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2743200"/>
            <a:ext cx="1188720" cy="438912"/>
          </a:xfrm>
          <a:prstGeom prst="roundRect">
            <a:avLst/>
          </a:prstGeom>
          <a:solidFill>
            <a:srgbClr val="F4A142"/>
          </a:solidFill>
          <a:ln>
            <a:solidFill>
              <a:srgbClr val="F4A1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위치 검증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35240" y="3749039"/>
            <a:ext cx="1417320" cy="438912"/>
          </a:xfrm>
          <a:prstGeom prst="roundRect">
            <a:avLst/>
          </a:prstGeom>
          <a:solidFill>
            <a:srgbClr val="D63F36"/>
          </a:solidFill>
          <a:ln>
            <a:solidFill>
              <a:srgbClr val="D63F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시각화 개선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0" y="2011680"/>
            <a:ext cx="22860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869680" y="2011680"/>
            <a:ext cx="27432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00100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87552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7040880" y="2971800"/>
            <a:ext cx="41148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229600" y="2971800"/>
            <a:ext cx="41148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35240" y="3154680"/>
            <a:ext cx="41148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8503920" y="3154680"/>
            <a:ext cx="54864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127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12743"/>
                </a:solidFill>
              </a:rPr>
              <a:t>OTDR 측정 결과 보고서 기능</a:t>
            </a:r>
          </a:p>
          <a:p>
            <a:pPr>
              <a:defRPr sz="1000">
                <a:solidFill>
                  <a:srgbClr val="667080"/>
                </a:solidFill>
              </a:defRPr>
            </a:pPr>
            <a:r>
              <a:t>링 단위 보고서 생성과 비교 분석 기능으로 운영 인사이트 강화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502920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27048"/>
            <a:ext cx="1005840" cy="310896"/>
          </a:xfrm>
          <a:prstGeom prst="roundRect">
            <a:avLst/>
          </a:prstGeom>
          <a:solidFill>
            <a:srgbClr val="245CA5"/>
          </a:solidFill>
          <a:ln>
            <a:solidFill>
              <a:srgbClr val="245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핵심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965960"/>
            <a:ext cx="470916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자동/수동 보고서 생성 모드 지원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측정 기간/종류/비교 대상 기준 통계 산출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DB 저장 후 API와 UI 조회 제공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657600"/>
            <a:ext cx="502920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3767328"/>
            <a:ext cx="1005840" cy="310896"/>
          </a:xfrm>
          <a:prstGeom prst="roundRect">
            <a:avLst/>
          </a:prstGeom>
          <a:solidFill>
            <a:srgbClr val="7159C1"/>
          </a:solidFill>
          <a:ln>
            <a:solidFill>
              <a:srgbClr val="715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보강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4206240"/>
            <a:ext cx="4709160" cy="1124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보고서 생성 주기 설정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대상 측정 종류 설정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이전 보고서와 차이 비교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14173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45CA5"/>
                </a:solidFill>
              </a:defRPr>
            </a:pPr>
            <a:r>
              <a:t>상세 구조도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83080"/>
            <a:ext cx="1188720" cy="438912"/>
          </a:xfrm>
          <a:prstGeom prst="roundRect">
            <a:avLst/>
          </a:prstGeom>
          <a:solidFill>
            <a:srgbClr val="245CA5"/>
          </a:solidFill>
          <a:ln>
            <a:solidFill>
              <a:srgbClr val="245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보고서 생성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1783080"/>
            <a:ext cx="1188720" cy="438912"/>
          </a:xfrm>
          <a:prstGeom prst="roundRect">
            <a:avLst/>
          </a:prstGeom>
          <a:solidFill>
            <a:srgbClr val="4FA4E3"/>
          </a:solidFill>
          <a:ln>
            <a:solidFill>
              <a:srgbClr val="4FA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통계 산출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1783080"/>
            <a:ext cx="1188720" cy="438912"/>
          </a:xfrm>
          <a:prstGeom prst="roundRect">
            <a:avLst/>
          </a:prstGeom>
          <a:solidFill>
            <a:srgbClr val="359961"/>
          </a:solidFill>
          <a:ln>
            <a:solidFill>
              <a:srgbClr val="3599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비교 분석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40880" y="2743200"/>
            <a:ext cx="1188720" cy="438912"/>
          </a:xfrm>
          <a:prstGeom prst="roundRect">
            <a:avLst/>
          </a:prstGeom>
          <a:solidFill>
            <a:srgbClr val="7159C1"/>
          </a:solidFill>
          <a:ln>
            <a:solidFill>
              <a:srgbClr val="715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보고서 DB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41080" y="2743200"/>
            <a:ext cx="1097280" cy="438912"/>
          </a:xfrm>
          <a:prstGeom prst="roundRect">
            <a:avLst/>
          </a:prstGeom>
          <a:solidFill>
            <a:srgbClr val="F4A142"/>
          </a:solidFill>
          <a:ln>
            <a:solidFill>
              <a:srgbClr val="F4A1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API/배치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26679" y="3749039"/>
            <a:ext cx="1097280" cy="438912"/>
          </a:xfrm>
          <a:prstGeom prst="roundRect">
            <a:avLst/>
          </a:prstGeom>
          <a:solidFill>
            <a:srgbClr val="D63F36"/>
          </a:solidFill>
          <a:ln>
            <a:solidFill>
              <a:srgbClr val="D63F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조회 UI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0" y="2011680"/>
            <a:ext cx="22860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869680" y="2011680"/>
            <a:ext cx="27432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00100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87552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7040880" y="2971800"/>
            <a:ext cx="41148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229600" y="2971800"/>
            <a:ext cx="41148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35240" y="3154680"/>
            <a:ext cx="41148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8503920" y="3154680"/>
            <a:ext cx="54864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127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12743"/>
                </a:solidFill>
              </a:rPr>
              <a:t>개발 일정</a:t>
            </a:r>
          </a:p>
          <a:p>
            <a:pPr>
              <a:defRPr sz="1000">
                <a:solidFill>
                  <a:srgbClr val="667080"/>
                </a:solidFill>
              </a:defRPr>
            </a:pPr>
            <a:r>
              <a:t>Repository의 doc/xlsx 기준 기능별 진행 일정을 색상 블록으로 표현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325880"/>
            <a:ext cx="1298448" cy="384048"/>
          </a:xfrm>
          <a:prstGeom prst="roundRect">
            <a:avLst/>
          </a:prstGeom>
          <a:solidFill>
            <a:srgbClr val="112743"/>
          </a:solidFill>
          <a:ln>
            <a:solidFill>
              <a:srgbClr val="1127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구분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1325880"/>
            <a:ext cx="3721607" cy="384048"/>
          </a:xfrm>
          <a:prstGeom prst="roundRect">
            <a:avLst/>
          </a:prstGeom>
          <a:solidFill>
            <a:srgbClr val="112743"/>
          </a:solidFill>
          <a:ln>
            <a:solidFill>
              <a:srgbClr val="1127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기능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0" y="1325880"/>
            <a:ext cx="841247" cy="384048"/>
          </a:xfrm>
          <a:prstGeom prst="roundRect">
            <a:avLst/>
          </a:prstGeom>
          <a:solidFill>
            <a:srgbClr val="112743"/>
          </a:solidFill>
          <a:ln>
            <a:solidFill>
              <a:srgbClr val="1127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1325880"/>
            <a:ext cx="841247" cy="384048"/>
          </a:xfrm>
          <a:prstGeom prst="roundRect">
            <a:avLst/>
          </a:prstGeom>
          <a:solidFill>
            <a:srgbClr val="112743"/>
          </a:solidFill>
          <a:ln>
            <a:solidFill>
              <a:srgbClr val="1127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M+1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0" y="1325880"/>
            <a:ext cx="841247" cy="384048"/>
          </a:xfrm>
          <a:prstGeom prst="roundRect">
            <a:avLst/>
          </a:prstGeom>
          <a:solidFill>
            <a:srgbClr val="112743"/>
          </a:solidFill>
          <a:ln>
            <a:solidFill>
              <a:srgbClr val="1127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M+2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325880"/>
            <a:ext cx="841247" cy="384048"/>
          </a:xfrm>
          <a:prstGeom prst="roundRect">
            <a:avLst/>
          </a:prstGeom>
          <a:solidFill>
            <a:srgbClr val="112743"/>
          </a:solidFill>
          <a:ln>
            <a:solidFill>
              <a:srgbClr val="1127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M+3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19" y="1325880"/>
            <a:ext cx="841247" cy="384048"/>
          </a:xfrm>
          <a:prstGeom prst="roundRect">
            <a:avLst/>
          </a:prstGeom>
          <a:solidFill>
            <a:srgbClr val="112743"/>
          </a:solidFill>
          <a:ln>
            <a:solidFill>
              <a:srgbClr val="1127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M+4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829799" y="1325880"/>
            <a:ext cx="841247" cy="384048"/>
          </a:xfrm>
          <a:prstGeom prst="roundRect">
            <a:avLst/>
          </a:prstGeom>
          <a:solidFill>
            <a:srgbClr val="112743"/>
          </a:solidFill>
          <a:ln>
            <a:solidFill>
              <a:srgbClr val="1127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M+5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1783080"/>
            <a:ext cx="1298448" cy="347472"/>
          </a:xfrm>
          <a:prstGeom prst="roundRect">
            <a:avLst/>
          </a:prstGeom>
          <a:solidFill>
            <a:srgbClr val="E6EEF8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292929"/>
                </a:solidFill>
              </a:rPr>
              <a:t>HUAWEI 연동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37360" y="1783080"/>
            <a:ext cx="3721607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>
                <a:solidFill>
                  <a:srgbClr val="292929"/>
                </a:solidFill>
              </a:rPr>
              <a:t>장비 인벤토리 정보 조회 기능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0" y="1783080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55080" y="1783080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23760" y="1783080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92440" y="1783080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961119" y="1783080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829799" y="1783080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11480" y="2167128"/>
            <a:ext cx="1298448" cy="347472"/>
          </a:xfrm>
          <a:prstGeom prst="roundRect">
            <a:avLst/>
          </a:prstGeom>
          <a:solidFill>
            <a:srgbClr val="E6EEF8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0">
                <a:solidFill>
                  <a:srgbClr val="292929"/>
                </a:solidFill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37360" y="2167128"/>
            <a:ext cx="3721607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>
                <a:solidFill>
                  <a:srgbClr val="292929"/>
                </a:solidFill>
              </a:rPr>
              <a:t>OTDR 측정 Profile 관리 기능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0" y="2167128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355080" y="2167128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23760" y="2167128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92440" y="2167128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961119" y="2167128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29799" y="2167128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11480" y="2551176"/>
            <a:ext cx="1298448" cy="347472"/>
          </a:xfrm>
          <a:prstGeom prst="roundRect">
            <a:avLst/>
          </a:prstGeom>
          <a:solidFill>
            <a:srgbClr val="E6EEF8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0">
                <a:solidFill>
                  <a:srgbClr val="292929"/>
                </a:solidFill>
              </a:rPr>
              <a:t/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737360" y="2551176"/>
            <a:ext cx="3721607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>
                <a:solidFill>
                  <a:srgbClr val="292929"/>
                </a:solidFill>
              </a:rPr>
              <a:t>OTDR 측정 작업 실행 기능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0" y="2551176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355080" y="2551176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223760" y="2551176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092440" y="2551176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961119" y="2551176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829799" y="2551176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11480" y="2935224"/>
            <a:ext cx="1298448" cy="347472"/>
          </a:xfrm>
          <a:prstGeom prst="roundRect">
            <a:avLst/>
          </a:prstGeom>
          <a:solidFill>
            <a:srgbClr val="E6EEF8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0">
                <a:solidFill>
                  <a:srgbClr val="292929"/>
                </a:solidFill>
              </a:rPr>
              <a:t/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737360" y="2935224"/>
            <a:ext cx="3721607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>
                <a:solidFill>
                  <a:srgbClr val="292929"/>
                </a:solidFill>
              </a:rPr>
              <a:t>OTDR 측정 결과 조회 기능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0" y="2935224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355080" y="2935224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223760" y="2935224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092440" y="2935224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961119" y="2935224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829799" y="2935224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11480" y="3319272"/>
            <a:ext cx="1298448" cy="347472"/>
          </a:xfrm>
          <a:prstGeom prst="roundRect">
            <a:avLst/>
          </a:prstGeom>
          <a:solidFill>
            <a:srgbClr val="E6EEF8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0">
                <a:solidFill>
                  <a:srgbClr val="292929"/>
                </a:solidFill>
              </a:rPr>
              <a:t/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737360" y="3319272"/>
            <a:ext cx="3721607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>
                <a:solidFill>
                  <a:srgbClr val="292929"/>
                </a:solidFill>
              </a:rPr>
              <a:t>EMS 자동점검 조회 기능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86400" y="3319272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355080" y="3319272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223760" y="3319272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092440" y="3319272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8961119" y="3319272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9829799" y="3319272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11480" y="3703320"/>
            <a:ext cx="1298448" cy="347472"/>
          </a:xfrm>
          <a:prstGeom prst="roundRect">
            <a:avLst/>
          </a:prstGeom>
          <a:solidFill>
            <a:srgbClr val="E6EEF8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292929"/>
                </a:solidFill>
              </a:rPr>
              <a:t>TANGO/GIS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737360" y="3703320"/>
            <a:ext cx="3721607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>
                <a:solidFill>
                  <a:srgbClr val="292929"/>
                </a:solidFill>
              </a:rPr>
              <a:t>TANGO 링 정보 연동 기능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486400" y="3703320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355080" y="3703320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7223760" y="3703320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8092440" y="3703320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8961119" y="3703320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9829799" y="3703320"/>
            <a:ext cx="841247" cy="347472"/>
          </a:xfrm>
          <a:prstGeom prst="roundRect">
            <a:avLst/>
          </a:prstGeom>
          <a:solidFill>
            <a:srgbClr val="ECF0F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411480" y="4087368"/>
            <a:ext cx="1298448" cy="347472"/>
          </a:xfrm>
          <a:prstGeom prst="roundRect">
            <a:avLst/>
          </a:prstGeom>
          <a:solidFill>
            <a:srgbClr val="E6EEF8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0">
                <a:solidFill>
                  <a:srgbClr val="292929"/>
                </a:solidFill>
              </a:rPr>
              <a:t/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737360" y="4087368"/>
            <a:ext cx="3721607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>
                <a:solidFill>
                  <a:srgbClr val="292929"/>
                </a:solidFill>
              </a:rPr>
              <a:t>GIS 선번 정보 연동 기능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486400" y="4087368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355080" y="4087368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7223760" y="4087368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8092440" y="4087368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8961119" y="4087368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9829799" y="4087368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411480" y="4471416"/>
            <a:ext cx="1298448" cy="347472"/>
          </a:xfrm>
          <a:prstGeom prst="roundRect">
            <a:avLst/>
          </a:prstGeom>
          <a:solidFill>
            <a:srgbClr val="E6EEF8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292929"/>
                </a:solidFill>
              </a:rPr>
              <a:t>NOKIA 자동점검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737360" y="4471416"/>
            <a:ext cx="3721607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>
                <a:solidFill>
                  <a:srgbClr val="292929"/>
                </a:solidFill>
              </a:rPr>
              <a:t>NOKIA OTDR Event 연동 기능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486400" y="4471416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6355080" y="4471416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7223760" y="4471416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8092440" y="4471416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8961119" y="4471416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9829799" y="4471416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411480" y="4855464"/>
            <a:ext cx="1298448" cy="347472"/>
          </a:xfrm>
          <a:prstGeom prst="roundRect">
            <a:avLst/>
          </a:prstGeom>
          <a:solidFill>
            <a:srgbClr val="E6EEF8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0">
                <a:solidFill>
                  <a:srgbClr val="292929"/>
                </a:solidFill>
              </a:rPr>
              <a:t/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737360" y="4855464"/>
            <a:ext cx="3721607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>
                <a:solidFill>
                  <a:srgbClr val="292929"/>
                </a:solidFill>
              </a:rPr>
              <a:t>NOKIA EMS 자동 점검 조회 기능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486400" y="4855464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6355080" y="4855464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7223760" y="4855464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8092440" y="4855464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8961119" y="4855464"/>
            <a:ext cx="841247" cy="347472"/>
          </a:xfrm>
          <a:prstGeom prst="roundRect">
            <a:avLst/>
          </a:prstGeom>
          <a:solidFill>
            <a:srgbClr val="ECF0F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9829799" y="4855464"/>
            <a:ext cx="841247" cy="347472"/>
          </a:xfrm>
          <a:prstGeom prst="roundRect">
            <a:avLst/>
          </a:prstGeom>
          <a:solidFill>
            <a:srgbClr val="ECF0F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411480" y="5239512"/>
            <a:ext cx="1298448" cy="347472"/>
          </a:xfrm>
          <a:prstGeom prst="roundRect">
            <a:avLst/>
          </a:prstGeom>
          <a:solidFill>
            <a:srgbClr val="E6EEF8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292929"/>
                </a:solidFill>
              </a:rPr>
              <a:t>선로 길이 보정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737360" y="5239512"/>
            <a:ext cx="3721607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>
                <a:solidFill>
                  <a:srgbClr val="292929"/>
                </a:solidFill>
              </a:rPr>
              <a:t>OTDR 선로 길이 보정 기능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486400" y="5239512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6355080" y="5239512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7223760" y="5239512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8092440" y="5239512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8961119" y="5239512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9829799" y="5239512"/>
            <a:ext cx="841247" cy="347472"/>
          </a:xfrm>
          <a:prstGeom prst="roundRect">
            <a:avLst/>
          </a:prstGeom>
          <a:solidFill>
            <a:srgbClr val="ECF0F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411480" y="5623560"/>
            <a:ext cx="1298448" cy="347472"/>
          </a:xfrm>
          <a:prstGeom prst="roundRect">
            <a:avLst/>
          </a:prstGeom>
          <a:solidFill>
            <a:srgbClr val="E6EEF8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292929"/>
                </a:solidFill>
              </a:rPr>
              <a:t>보고서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737360" y="5623560"/>
            <a:ext cx="3721607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>
                <a:solidFill>
                  <a:srgbClr val="292929"/>
                </a:solidFill>
              </a:rPr>
              <a:t>링단위 측정 결과 보고서 생성 기능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486400" y="5623560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6355080" y="5623560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7223760" y="5623560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8092440" y="5623560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8961119" y="5623560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9829799" y="5623560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02920" y="59893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67080"/>
                </a:solidFill>
              </a:defRPr>
            </a:pPr>
            <a:r>
              <a:t>※ 일정은 doc 폴더의 개발계획서 xlsx 기준 기능 항목을 따르며, 월별 진행은 색상 블록으로만 표현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