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60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3840480" cy="6062472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138160" y="868680"/>
            <a:ext cx="3108960" cy="914400"/>
          </a:xfrm>
          <a:prstGeom prst="chevron">
            <a:avLst/>
          </a:prstGeom>
          <a:solidFill>
            <a:srgbClr val="D6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8869680" y="1417320"/>
            <a:ext cx="2286000" cy="731520"/>
          </a:xfrm>
          <a:prstGeom prst="chevron">
            <a:avLst/>
          </a:prstGeom>
          <a:solidFill>
            <a:srgbClr val="F4A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k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2377440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92024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743"/>
                </a:solidFill>
              </a:rPr>
              <a:t>OTDR 선로품질관리시스템
고도화 개발 계획서</a:t>
            </a:r>
          </a:p>
          <a:p>
            <a:pPr>
              <a:defRPr sz="1600">
                <a:solidFill>
                  <a:srgbClr val="292929"/>
                </a:solidFill>
              </a:defRPr>
            </a:pPr>
            <a:r>
              <a:t>SKT 기간망 선로 품질관리 고도화 및 EMS 연동 확대</a:t>
            </a:r>
          </a:p>
          <a:p>
            <a:pPr>
              <a:defRPr sz="1300">
                <a:solidFill>
                  <a:srgbClr val="292929"/>
                </a:solidFill>
              </a:defRPr>
            </a:pPr>
            <a:r>
              <a:t>작성자: 입력</a:t>
            </a:r>
          </a:p>
          <a:p>
            <a:pPr>
              <a:defRPr sz="1300">
                <a:solidFill>
                  <a:srgbClr val="292929"/>
                </a:solidFill>
              </a:defRPr>
            </a:pPr>
            <a:r>
              <a:t>날짜: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43200"/>
            <a:ext cx="2971800" cy="502920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HUAWEI/NOKIA EMS 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493008"/>
            <a:ext cx="2971800" cy="502920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OTDR 측정 자동화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242816"/>
            <a:ext cx="2971800" cy="502920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결과 분석/보고서 고도화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HUAWEI 장비 인벤토리 정보 조회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HUAWEI NCE REST API 기반 인벤토리 수집, 분석, 저장, 조회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장비/서비스 Port/OTDR Port 수집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network-id, node-id, port-id 단계별 조회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SFTP 보조 연계와 Pagination 처리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분석 및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Link 분석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OTDR Port-서비스 Port 연관성 분석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OTDR DB 테이블 저장 및 Web UI 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14300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NCE 인증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783080"/>
            <a:ext cx="132588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Inventory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783080"/>
            <a:ext cx="132588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수집/정규화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43200"/>
            <a:ext cx="123444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Link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743200"/>
            <a:ext cx="123444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Port 매핑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749039"/>
            <a:ext cx="132588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OTDR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3749039"/>
            <a:ext cx="114300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Web UI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HUAWEI OTDR 측정 Profile 관리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Link 단위 OTDR 측정 Profile과 Default Profile 정책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Profile 생성/조회/수정/삭제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Default Profile 별도 관리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측정 작업 생성 시 API 파라미터 전달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보강 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평균화 횟수, 샘플링 해상도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파장 선택값, 임계치 버전 관리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필드별 허용 범위와 권장값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14300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Web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783080"/>
            <a:ext cx="132588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Profile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783080"/>
            <a:ext cx="132588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Default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743200"/>
            <a:ext cx="141732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Profile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743200"/>
            <a:ext cx="141732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파라미터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749039"/>
            <a:ext cx="132588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OTDR 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HUAWEI OTDR 측정 작업 실행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측정 등록, 스케줄링, 실행, 상태 관리까지의 전주기 자동화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정기/장애/작업/Baseline 측정 분리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우선순위/동시성 조건 기반 스케줄링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NCE 측정 요청 후 Polling 또는 Event 상태관리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운영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OTDR 동시 측정 수 제한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API 동시 호출 제한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유형별 스케줄러 옵션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132588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측정 등록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783080"/>
            <a:ext cx="141732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구성정보 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783080"/>
            <a:ext cx="114300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스케줄러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43200"/>
            <a:ext cx="123444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Task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743200"/>
            <a:ext cx="123444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상태관리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749039"/>
            <a:ext cx="132588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NCE OTDR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HUAWEI OTDR 측정 결과 조회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측정 결과 수집, SOR 분석, 통합 조회 화면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Task 응답과 SOR 파일 수집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표준 SOR 파일 파싱 및 결과 저장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기존 결과 조회 화면에 HUAWEI 결과 통합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보강 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Event별 loss classification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품질 등급 및 이상패턴 요약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비교 탐색과 결과 시각화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14300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결과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783080"/>
            <a:ext cx="123444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SOR 수집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83080"/>
            <a:ext cx="132588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파싱/분석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43200"/>
            <a:ext cx="132588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결과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743200"/>
            <a:ext cx="150876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통합 조회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749039"/>
            <a:ext cx="132588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이력 비교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HUAWEI EMS 자동점검 조회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자동점검 이력 탐색과 결과 수집/저장 및 실시간 연동 검토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주기 Polling 기반 자동점검 이력 탐색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수동/자동 측정 혼재 환경에서 자동점검 Task 분류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자동점검 결과 수집/분석/저장 후 UI 조회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운영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조회 시간범위 관리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이벤트 실시간 연동 방안 검토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조회 주기 설정 기능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141732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EMS Task 이력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83080"/>
            <a:ext cx="132588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Polling 탐색기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783080"/>
            <a:ext cx="132588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자동점검 분류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743200"/>
            <a:ext cx="132588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결과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743200"/>
            <a:ext cx="141732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실시간 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749039"/>
            <a:ext cx="123444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조회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TANGO 링 정보, GIS 선번 정보 연동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수동 업로드 기반 구성정보 갱신을 M2M 방식으로 자동화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Tango 링 정보, GIS 선번 정보 연동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REST API/Kafka/SFTP 등 규격 협의 후 개발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연동 데이터 저장 및 조회 화면 제공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수동 업로드 제거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구성정보 최신성 확보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운영자 조회 편의성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23444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Tango/GIS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783080"/>
            <a:ext cx="123444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연동 규격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83080"/>
            <a:ext cx="123444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연동 모듈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43200"/>
            <a:ext cx="141732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구성정보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743200"/>
            <a:ext cx="123444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조회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749039"/>
            <a:ext cx="141732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자동화 운영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NOKIA EMS 자동점검 조회 기능 개발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Kafka 이벤트 기반으로 NOKIA 자동점검 측정 실시간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Kafka SASL_SSL 인증과 이벤트 토픽 연동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자동점검 이벤트 판별 및 결과 수집 모듈 전달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SOR 포함 측정결과 저장과 화면 개선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Polling 부하 절감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실시간 탐지 강화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기존 화면 고도화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23444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Kafka 인증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783080"/>
            <a:ext cx="123444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이벤트 구독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83080"/>
            <a:ext cx="141732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자동점검 판별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43200"/>
            <a:ext cx="132588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결과 수집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743200"/>
            <a:ext cx="123444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SOR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749039"/>
            <a:ext cx="141732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자동점검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OTDR 선로 길이 보정 기능 개발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Source Port 기준 거리 보정으로 Trace 그래프 정확도 향상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Source Port~첫 FDF 거리 추가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FDF 위치 보정 계산 로직 적용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보정된 위치를 OTDR Trace 그래프에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실제 선로 거리와 그래프 정합성 향상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분석 정확도 개선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운영 검증 편의성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14300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거리정보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783080"/>
            <a:ext cx="123444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보정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83080"/>
            <a:ext cx="114300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API 수정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743200"/>
            <a:ext cx="123444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Trace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743200"/>
            <a:ext cx="123444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위치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749039"/>
            <a:ext cx="141732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시각화 개선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OTDR 측정 결과 보고서 기능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링 단위 정기/수동 보고서 생성과 비교 분석 기능 제공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029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solidFill>
            <a:srgbClr val="24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47000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자동/수동 보고서 생성 모드 지원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측정 기간, 측정 종류, 비교 대상 기준 통계 산출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DB 저장 후 Backend API와 Web UI 조회 제공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solidFill>
            <a:srgbClr val="715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운영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96512"/>
            <a:ext cx="47000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보고서 생성 주기 설정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대상 측정 종류 설정</a:t>
            </a:r>
          </a:p>
          <a:p>
            <a:pPr>
              <a:spcAft>
                <a:spcPts val="400"/>
              </a:spcAft>
              <a:defRPr sz="1150">
                <a:solidFill>
                  <a:srgbClr val="292929"/>
                </a:solidFill>
              </a:defRPr>
            </a:pPr>
            <a:r>
              <a:t>• 이전 보고서와 차이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5CA5"/>
                </a:solidFill>
              </a:defRPr>
            </a:pPr>
            <a:r>
              <a:t>기능 구조도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234440" cy="438912"/>
          </a:xfrm>
          <a:prstGeom prst="roundRect">
            <a:avLst/>
          </a:prstGeom>
          <a:solidFill>
            <a:srgbClr val="245CA5"/>
          </a:solidFill>
          <a:ln>
            <a:solidFill>
              <a:srgbClr val="24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보고서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783080"/>
            <a:ext cx="1234440" cy="438912"/>
          </a:xfrm>
          <a:prstGeom prst="roundRect">
            <a:avLst/>
          </a:prstGeom>
          <a:solidFill>
            <a:srgbClr val="4FA4E3"/>
          </a:solidFill>
          <a:ln>
            <a:solidFill>
              <a:srgbClr val="4FA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통계 산출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83080"/>
            <a:ext cx="1234440" cy="438912"/>
          </a:xfrm>
          <a:prstGeom prst="roundRect">
            <a:avLst/>
          </a:prstGeom>
          <a:solidFill>
            <a:srgbClr val="359961"/>
          </a:solidFill>
          <a:ln>
            <a:solidFill>
              <a:srgbClr val="359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비교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43200"/>
            <a:ext cx="1234440" cy="438912"/>
          </a:xfrm>
          <a:prstGeom prst="roundRect">
            <a:avLst/>
          </a:prstGeom>
          <a:solidFill>
            <a:srgbClr val="7159C1"/>
          </a:solidFill>
          <a:ln>
            <a:solidFill>
              <a:srgbClr val="715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보고서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43200"/>
            <a:ext cx="1234440" cy="438912"/>
          </a:xfrm>
          <a:prstGeom prst="roundRect">
            <a:avLst/>
          </a:prstGeom>
          <a:solidFill>
            <a:srgbClr val="F4A142"/>
          </a:solidFill>
          <a:ln>
            <a:solidFill>
              <a:srgbClr val="F4A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API/배치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749039"/>
            <a:ext cx="1234440" cy="438912"/>
          </a:xfrm>
          <a:prstGeom prst="roundRect">
            <a:avLst/>
          </a:prstGeom>
          <a:solidFill>
            <a:srgbClr val="D63F36"/>
          </a:solidFill>
          <a:ln>
            <a:solidFill>
              <a:srgbClr val="D6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조회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011680"/>
            <a:ext cx="274319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011680"/>
            <a:ext cx="27432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2221992"/>
            <a:ext cx="0" cy="50292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086600" y="2971800"/>
            <a:ext cx="45720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971800"/>
            <a:ext cx="594360" cy="0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45720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49640" y="3154680"/>
            <a:ext cx="594360" cy="594359"/>
          </a:xfrm>
          <a:prstGeom prst="line">
            <a:avLst/>
          </a:prstGeom>
          <a:ln w="1778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743"/>
                </a:solidFill>
              </a:rPr>
              <a:t>개발 일정</a:t>
            </a:r>
          </a:p>
          <a:p>
            <a:pPr>
              <a:defRPr sz="1000">
                <a:solidFill>
                  <a:srgbClr val="667080"/>
                </a:solidFill>
              </a:defRPr>
            </a:pPr>
            <a:r>
              <a:t>doc 폴더의 개발계획서 xlsx 기준 기능별 진행 일정(M ~ M+5)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1298448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325880"/>
            <a:ext cx="372160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25880"/>
            <a:ext cx="84124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84124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84124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84124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9" y="1325880"/>
            <a:ext cx="84124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799" y="1325880"/>
            <a:ext cx="841247" cy="384048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783080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92929"/>
                </a:solidFill>
              </a:rPr>
              <a:t>HUAWEI 연동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1783080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장비 인벤토리 정보 조회 기능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783080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1783080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783080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19" y="1783080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799" y="1783080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2167128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92929"/>
                </a:solidFill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2167128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OTDR 측정 Profile 관리 기능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167128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167128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2167128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2167128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19" y="2167128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29799" y="2167128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2551176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92929"/>
                </a:solidFill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360" y="2551176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OTDR 측정 작업 실행 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2551176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2551176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23760" y="2551176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92440" y="2551176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1119" y="2551176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29799" y="2551176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2935224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92929"/>
                </a:solidFill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37360" y="2935224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OTDR 측정 결과 조회 기능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2935224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2935224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23760" y="2935224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92440" y="2935224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61119" y="2935224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829799" y="2935224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1480" y="3319272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92929"/>
                </a:solidFill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37360" y="3319272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EMS 자동점검 조회 기능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3319272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5080" y="3319272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223760" y="3319272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092440" y="3319272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961119" y="3319272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829799" y="3319272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1480" y="3703320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92929"/>
                </a:solidFill>
              </a:rPr>
              <a:t>TANGO/GIS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37360" y="3703320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TANGO 링 정보 연동 기능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0" y="3703320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55080" y="3703320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223760" y="3703320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92440" y="3703320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61119" y="3703320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829799" y="3703320"/>
            <a:ext cx="841247" cy="347472"/>
          </a:xfrm>
          <a:prstGeom prst="roundRect">
            <a:avLst/>
          </a:prstGeom>
          <a:solidFill>
            <a:srgbClr val="ECF0F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11480" y="4087368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92929"/>
                </a:solidFill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37360" y="4087368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GIS 선번 정보 연동 기능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0" y="4087368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55080" y="4087368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223760" y="4087368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092440" y="4087368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961119" y="4087368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829799" y="4087368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11480" y="4471416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92929"/>
                </a:solidFill>
              </a:rPr>
              <a:t>NOKIA 자동점검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37360" y="4471416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NOKIA OTDR Event 연동 기능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0" y="4471416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355080" y="4471416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23760" y="4471416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92440" y="4471416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961119" y="4471416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829799" y="4471416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11480" y="4855464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92929"/>
                </a:solidFill>
              </a:rPr>
              <a:t/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737360" y="4855464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NOKIA EMS 자동 점검 조회 기능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86400" y="4855464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355080" y="4855464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223760" y="4855464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092440" y="4855464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961119" y="4855464"/>
            <a:ext cx="841247" cy="347472"/>
          </a:xfrm>
          <a:prstGeom prst="roundRect">
            <a:avLst/>
          </a:prstGeom>
          <a:solidFill>
            <a:srgbClr val="ECF0F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829799" y="4855464"/>
            <a:ext cx="841247" cy="347472"/>
          </a:xfrm>
          <a:prstGeom prst="roundRect">
            <a:avLst/>
          </a:prstGeom>
          <a:solidFill>
            <a:srgbClr val="ECF0F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11480" y="5239512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92929"/>
                </a:solidFill>
              </a:rPr>
              <a:t>선로 길이 보정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737360" y="5239512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OTDR 선로 길이 보정 기능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486400" y="5239512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355080" y="5239512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223760" y="5239512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092440" y="5239512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961119" y="5239512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829799" y="5239512"/>
            <a:ext cx="841247" cy="347472"/>
          </a:xfrm>
          <a:prstGeom prst="roundRect">
            <a:avLst/>
          </a:prstGeom>
          <a:solidFill>
            <a:srgbClr val="ECF0F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11480" y="5623560"/>
            <a:ext cx="1298448" cy="347472"/>
          </a:xfrm>
          <a:prstGeom prst="roundRect">
            <a:avLst/>
          </a:prstGeom>
          <a:solidFill>
            <a:srgbClr val="E6EEF8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92929"/>
                </a:solidFill>
              </a:rPr>
              <a:t>보고서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737360" y="5623560"/>
            <a:ext cx="3721607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292929"/>
                </a:solidFill>
              </a:rPr>
              <a:t>링단위 측정 결과 보고서 생성 기능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0" y="5623560"/>
            <a:ext cx="841247" cy="347472"/>
          </a:xfrm>
          <a:prstGeom prst="roundRect">
            <a:avLst/>
          </a:prstGeom>
          <a:solidFill>
            <a:srgbClr val="245CA5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355080" y="5623560"/>
            <a:ext cx="841247" cy="347472"/>
          </a:xfrm>
          <a:prstGeom prst="roundRect">
            <a:avLst/>
          </a:prstGeom>
          <a:solidFill>
            <a:srgbClr val="4FA4E3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223760" y="5623560"/>
            <a:ext cx="841247" cy="347472"/>
          </a:xfrm>
          <a:prstGeom prst="roundRect">
            <a:avLst/>
          </a:prstGeom>
          <a:solidFill>
            <a:srgbClr val="35996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092440" y="5623560"/>
            <a:ext cx="841247" cy="347472"/>
          </a:xfrm>
          <a:prstGeom prst="roundRect">
            <a:avLst/>
          </a:prstGeom>
          <a:solidFill>
            <a:srgbClr val="7159C1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961119" y="5623560"/>
            <a:ext cx="841247" cy="347472"/>
          </a:xfrm>
          <a:prstGeom prst="roundRect">
            <a:avLst/>
          </a:prstGeom>
          <a:solidFill>
            <a:srgbClr val="F4A142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829799" y="5623560"/>
            <a:ext cx="841247" cy="347472"/>
          </a:xfrm>
          <a:prstGeom prst="roundRect">
            <a:avLst/>
          </a:prstGeom>
          <a:solidFill>
            <a:srgbClr val="D63F36"/>
          </a:solidFill>
          <a:ln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※ 일정은 repository의 doc 폴더 아래 xlsx 기능 항목을 기준으로 정리했으며, 월별 진행은 색상 블록으로 표현함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