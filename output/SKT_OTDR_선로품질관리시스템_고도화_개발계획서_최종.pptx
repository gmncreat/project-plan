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02A43"/>
                </a:solidFill>
              </a:rPr>
              <a:t>SKT OTDR 선로품질관리시스템 고도화 개발 계획서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68580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222222"/>
                </a:solidFill>
              </a:defRPr>
            </a:pPr>
            <a:r>
              <a:t>배경: SKT 기간망 장비 EMS 기반 OTDR 운영 고도화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작성자: 입력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날짜: 입력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58200" y="1417320"/>
            <a:ext cx="29718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93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D93A2B"/>
                </a:solidFill>
              </a:rPr>
              <a:t>SKT LOGO
삽입 영역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02A43"/>
                </a:solidFill>
              </a:rPr>
              <a:t>2. HUAWEI 장비 인벤토리 정보 조회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325880"/>
            <a:ext cx="5349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HUAWEI NCE REST API로 장비, 서비스 Port, OTDR Port 인벤토리 수집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인증 토큰, network-id, node-id, port-id, OTDR port-id 단계별 조회 수행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Pagination 유틸과 SFTP 보조 연동으로 대량 인벤토리 수집 안정화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Link 분석과 OTDR Port-서비스 Port 연관성 분석 후 OTDR DB 저장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선택적으로 Change Event 구독을 연계해 인벤토리 변경 자동 반영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05156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5AA6"/>
                </a:solidFill>
              </a:defRPr>
            </a:pPr>
            <a:r>
              <a:t>Overview 구조도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173736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222222"/>
                </a:solidFill>
              </a:rPr>
              <a:t>NCE REST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155448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수집 모듈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06040"/>
            <a:ext cx="173736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분석 모듈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606040"/>
            <a:ext cx="155448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OTDR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657600"/>
            <a:ext cx="173736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Web UI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909560" y="1874519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9560" y="2926080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9244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9828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9828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02A43"/>
                </a:solidFill>
              </a:rPr>
              <a:t>3. HUAWEI OTDR 측정 Profile 관리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325880"/>
            <a:ext cx="5349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Link 단위 OTDR 측정 Profile CRUD와 Default Profile 관리 기능 제공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측정 작업 생성 시 Profile 정보를 NCE OTDR API 요청 파라미터로 전달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핵심 필드: refractive-index, reflection-threshold, pulse-width, distance-range 등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UI에서 필드별 입력 범위, 단위, 권장값을 상세 설명으로 제공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추가 관리 권장 정보: 평균화 횟수, 샘플링 해상도, 파장, 알람 임계치 버전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05156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5AA6"/>
                </a:solidFill>
              </a:defRPr>
            </a:pPr>
            <a:r>
              <a:t>Overview 구조도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155448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Web 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173736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222222"/>
                </a:solidFill>
              </a:rPr>
              <a:t>Profile 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06040"/>
            <a:ext cx="16459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Profile 정책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606040"/>
            <a:ext cx="182880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222222"/>
                </a:solidFill>
              </a:rPr>
              <a:t>Default Profile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3657600"/>
            <a:ext cx="173736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OTDR DB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909560" y="1874519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9560" y="2926080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9244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9828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9828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02A43"/>
                </a:solidFill>
              </a:rPr>
              <a:t>4. HUAWEI OTDR 측정 작업 실행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325880"/>
            <a:ext cx="5349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정기/장애/작업/Baseline 측정을 분리 등록하고 공통 스케줄러에서 실행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대상 링 기준 모든 Link, 장비, Port, Profile 구성정보를 조회해 작업 생성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우선순위와 동시성 조건을 고려한 OTDR 측정 Task 스케줄링 수행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NCE OTDR 측정 API 연동 후 Polling 또는 Event 방식으로 상태 관리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동시 측정 수, API 동시 호출 수 등 운영 파라미터를 별도 설정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05156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5AA6"/>
                </a:solidFill>
              </a:defRPr>
            </a:pPr>
            <a:r>
              <a:t>Overview 구조도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155448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측정 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155448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스케줄러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06040"/>
            <a:ext cx="173736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Task 실행기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606040"/>
            <a:ext cx="182880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222222"/>
                </a:solidFill>
              </a:rPr>
              <a:t>NCE OTDR 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657600"/>
            <a:ext cx="21031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상태/설정관리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909560" y="1874519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9560" y="2926080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9244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9828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9828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02A43"/>
                </a:solidFill>
              </a:rPr>
              <a:t>5. HUAWEI OTDR 측정 결과 조회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325880"/>
            <a:ext cx="5349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OTDR Task 응답과 SOR 파일을 수집하고 분석해 측정결과 DB에 저장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표준 SOR 파일 파싱으로 이벤트, 손실, 반사 특성 정보를 구조화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기존 결과 조회 화면에 HUAWEI OTDR 측정 결과를 통합 조회하도록 고도화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추가 분석 권장 정보: Event별 loss classification, 품질등급, 이상패턴 요약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1차 개발에서 미흡했던 결과 시각화와 비교 탐색 기능을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05156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5AA6"/>
                </a:solidFill>
              </a:defRPr>
            </a:pPr>
            <a:r>
              <a:t>Overview 구조도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173736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NCE 결과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146304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SOR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06040"/>
            <a:ext cx="16459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결과 분석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606040"/>
            <a:ext cx="173736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측정결과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657600"/>
            <a:ext cx="182880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결과 조회 UI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909560" y="1874519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9560" y="2926080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9244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9828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9828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02A43"/>
                </a:solidFill>
              </a:rPr>
              <a:t>6. HUAWEI EMS 자동점검 조회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325880"/>
            <a:ext cx="5349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EMS 자동 OTDR 측정 이력을 주기 탐색해 자동점검 결과를 수집/분석/저장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Task 이력 조회 시간범위를 관리해 중복 없이 연속 탐색 수행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수동/자동 측정이 혼재된 이력에서 자동점검 Task 판별 로직 구현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Polling 부하를 줄이기 위한 실시간 이벤트 연동 방안도 병행 검토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기존 자동점검 조회 화면과 연계해 결과를 통합 조회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05156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5AA6"/>
                </a:solidFill>
              </a:defRPr>
            </a:pPr>
            <a:r>
              <a:t>Overview 구조도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554480"/>
            <a:ext cx="182880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EMS 자동점검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75320" y="1554480"/>
            <a:ext cx="16459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이력 탐색기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606040"/>
            <a:ext cx="182880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자동/수동 분류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75320" y="2606040"/>
            <a:ext cx="16459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결과 저장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3657600"/>
            <a:ext cx="182880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자동점검 UI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909560" y="1874519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9560" y="2926080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9244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9828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9828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02A43"/>
                </a:solidFill>
              </a:rPr>
              <a:t>7. TANGO 링 정보, GIS 선번 정보 연동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325880"/>
            <a:ext cx="5349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수동 엑셀 업로드 기반 링 정보 갱신을 M2M 연동 방식으로 자동화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연동 대상은 Tango 링 정보와 GIS 선번 정보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REST API, Kafka, SFTP 등 협의된 규격에 맞춰 연동 모듈 개발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연동 데이터는 구성정보 테이블에 저장하고 Web UI 조회 기능 제공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GIS 선번 정보는 신규 조회 화면으로 제공해 운영 활용도를 강화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05156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5AA6"/>
                </a:solidFill>
              </a:defRPr>
            </a:pPr>
            <a:r>
              <a:t>Overview 구조도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16459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Tango/GIS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16459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규격 협의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06040"/>
            <a:ext cx="16459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연동 모듈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606040"/>
            <a:ext cx="173736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구성정보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3657600"/>
            <a:ext cx="16459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조회 UI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909560" y="1874519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9560" y="2926080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9244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9828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9828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02A43"/>
                </a:solidFill>
              </a:rPr>
              <a:t>8. NOKIA EMS 자동점검 조회 기능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325880"/>
            <a:ext cx="5349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Kafka 기반 EMS 이벤트 연동으로 자동점검 측정 감지를 실시간화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SASL_SSL 인증, 이벤트 토픽 구독, 자동점검 이벤트 판별 기능 구현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완료 이벤트 수신 후 측정결과와 SOR 파일을 수집/분석/저장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기존 JobList Polling 대비 부하를 줄이고 실시간성과 확장성을 강화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자동점검 조회 화면은 사용자 요구사항을 반영해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05156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5AA6"/>
                </a:solidFill>
              </a:defRPr>
            </a:pPr>
            <a:r>
              <a:t>Overview 구조도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16459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NOKIA EMS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155448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Kafka 연동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06040"/>
            <a:ext cx="16459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이벤트 판별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606040"/>
            <a:ext cx="182880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결과수집/저장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3657600"/>
            <a:ext cx="182880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자동점검 UI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909560" y="1874519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9560" y="2926080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9244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9828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9828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02A43"/>
                </a:solidFill>
              </a:rPr>
              <a:t>9. OTDR 선로 길이 보정 기능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325880"/>
            <a:ext cx="5349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Source Port와 첫 번째 FDF 간 거리 정보를 Link 시작점에 추가 반영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기존 FDF 위치를 보정 거리만큼 재계산해 Trace 상 위치 정확도 개선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Backend API 계산 로직과 응답 스키마를 함께 수정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OTDR Trace 그래프에서 보정된 FDF 위치를 시각적으로 표시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실제 선로 거리와 그래프 차이를 운영자가 쉽게 검증할 수 있게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05156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5AA6"/>
                </a:solidFill>
              </a:defRPr>
            </a:pPr>
            <a:r>
              <a:t>Overview 구조도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155448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거리정보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155448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보정 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06040"/>
            <a:ext cx="173736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위치 재계산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606040"/>
            <a:ext cx="173736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Trace 그래프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3657600"/>
            <a:ext cx="16459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검증 UI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909560" y="1874519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9560" y="2926080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9244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9828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9828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02A43"/>
                </a:solidFill>
              </a:rPr>
              <a:t>10. OTDR 측정 결과 보고서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325880"/>
            <a:ext cx="5349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링 단위 주기 보고서를 자동 생성하고 필요 시 수동 생성 지원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측정 기간, 측정 종류, 비교 대상 보고서를 기준으로 통계와 비교 정보 산출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자동 생성은 이전 주기와 비교, 수동 생성은 선택 기간/보고서와 비교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보고서 데이터는 DB 저장 후 Backend API와 Web UI로 조회 제공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정기 보고서 주기와 대상 측정 종류를 운영자가 설정 관리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05156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5AA6"/>
                </a:solidFill>
              </a:defRPr>
            </a:pPr>
            <a:r>
              <a:t>Overview 구조도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173736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보고서 생성기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16459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통계/비교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06040"/>
            <a:ext cx="16459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보고서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606040"/>
            <a:ext cx="155448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API/배치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3657600"/>
            <a:ext cx="1645920" cy="658368"/>
          </a:xfrm>
          <a:prstGeom prst="roundRect">
            <a:avLst/>
          </a:prstGeom>
          <a:solidFill>
            <a:srgbClr val="F4F7FB"/>
          </a:solidFill>
          <a:ln>
            <a:solidFill>
              <a:srgbClr val="1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보고서 UI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909560" y="1874519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9560" y="2926080"/>
            <a:ext cx="3657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9244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98280" y="219456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98280" y="3246120"/>
            <a:ext cx="0" cy="41148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02A43"/>
                </a:solidFill>
              </a:rPr>
              <a:t>11. 개발 일정</a:t>
            </a:r>
          </a:p>
          <a:p>
            <a:pPr>
              <a:defRPr sz="1000">
                <a:solidFill>
                  <a:srgbClr val="666666"/>
                </a:solidFill>
              </a:defRPr>
            </a:pPr>
            <a:r>
              <a:t>견적내용 시트 기준 기능별 진행 일정(M ~ M+5)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188720"/>
            <a:ext cx="1234440" cy="384048"/>
          </a:xfrm>
          <a:prstGeom prst="rect">
            <a:avLst/>
          </a:prstGeom>
          <a:solidFill>
            <a:srgbClr val="102A43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구분</a:t>
            </a:r>
          </a:p>
        </p:txBody>
      </p:sp>
      <p:sp>
        <p:nvSpPr>
          <p:cNvPr id="4" name="Rectangle 3"/>
          <p:cNvSpPr/>
          <p:nvPr/>
        </p:nvSpPr>
        <p:spPr>
          <a:xfrm>
            <a:off x="1554480" y="1188720"/>
            <a:ext cx="3154680" cy="384048"/>
          </a:xfrm>
          <a:prstGeom prst="rect">
            <a:avLst/>
          </a:prstGeom>
          <a:solidFill>
            <a:srgbClr val="102A43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기능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4709160" y="1188720"/>
            <a:ext cx="822960" cy="384048"/>
          </a:xfrm>
          <a:prstGeom prst="rect">
            <a:avLst/>
          </a:prstGeom>
          <a:solidFill>
            <a:srgbClr val="102A43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총 M/D</a:t>
            </a:r>
          </a:p>
        </p:txBody>
      </p:sp>
      <p:sp>
        <p:nvSpPr>
          <p:cNvPr id="6" name="Rectangle 5"/>
          <p:cNvSpPr/>
          <p:nvPr/>
        </p:nvSpPr>
        <p:spPr>
          <a:xfrm>
            <a:off x="5532120" y="1188720"/>
            <a:ext cx="868680" cy="384048"/>
          </a:xfrm>
          <a:prstGeom prst="rect">
            <a:avLst/>
          </a:prstGeom>
          <a:solidFill>
            <a:srgbClr val="102A43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868680" cy="384048"/>
          </a:xfrm>
          <a:prstGeom prst="rect">
            <a:avLst/>
          </a:prstGeom>
          <a:solidFill>
            <a:srgbClr val="102A43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M+1</a:t>
            </a:r>
          </a:p>
        </p:txBody>
      </p:sp>
      <p:sp>
        <p:nvSpPr>
          <p:cNvPr id="8" name="Rectangle 7"/>
          <p:cNvSpPr/>
          <p:nvPr/>
        </p:nvSpPr>
        <p:spPr>
          <a:xfrm>
            <a:off x="7269480" y="1188720"/>
            <a:ext cx="868680" cy="384048"/>
          </a:xfrm>
          <a:prstGeom prst="rect">
            <a:avLst/>
          </a:prstGeom>
          <a:solidFill>
            <a:srgbClr val="102A43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M+2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188720"/>
            <a:ext cx="868680" cy="384048"/>
          </a:xfrm>
          <a:prstGeom prst="rect">
            <a:avLst/>
          </a:prstGeom>
          <a:solidFill>
            <a:srgbClr val="102A43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M+3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1188720"/>
            <a:ext cx="868680" cy="384048"/>
          </a:xfrm>
          <a:prstGeom prst="rect">
            <a:avLst/>
          </a:prstGeom>
          <a:solidFill>
            <a:srgbClr val="102A43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M+4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75519" y="1188720"/>
            <a:ext cx="868680" cy="384048"/>
          </a:xfrm>
          <a:prstGeom prst="rect">
            <a:avLst/>
          </a:prstGeom>
          <a:solidFill>
            <a:srgbClr val="102A43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M+5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72768"/>
            <a:ext cx="1234440" cy="384048"/>
          </a:xfrm>
          <a:prstGeom prst="rect">
            <a:avLst/>
          </a:prstGeom>
          <a:solidFill>
            <a:srgbClr val="E6EEF8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HUAWEI 연동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54480" y="1572768"/>
            <a:ext cx="3154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장비 인벤토리 정보 조회 기능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572768"/>
            <a:ext cx="822960" cy="384048"/>
          </a:xfrm>
          <a:prstGeom prst="rect">
            <a:avLst/>
          </a:prstGeom>
          <a:solidFill>
            <a:srgbClr val="F8FAFD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32120" y="157276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분석/설계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57276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API 연동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157276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분석·저장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57276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UI/조회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57276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테스트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19" y="157276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안정화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956816"/>
            <a:ext cx="1234440" cy="384048"/>
          </a:xfrm>
          <a:prstGeom prst="rect">
            <a:avLst/>
          </a:prstGeom>
          <a:solidFill>
            <a:srgbClr val="E6EEF8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1554480" y="1956816"/>
            <a:ext cx="3154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OTDR 측정 Profile 관리 기능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1956816"/>
            <a:ext cx="822960" cy="384048"/>
          </a:xfrm>
          <a:prstGeom prst="rect">
            <a:avLst/>
          </a:prstGeom>
          <a:solidFill>
            <a:srgbClr val="F8FAFD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1956816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분석/설계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956816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API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9480" y="1956816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UI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1956816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기능보완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06840" y="1956816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테스트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19" y="1956816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적용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340864"/>
            <a:ext cx="1234440" cy="384048"/>
          </a:xfrm>
          <a:prstGeom prst="rect">
            <a:avLst/>
          </a:prstGeom>
          <a:solidFill>
            <a:srgbClr val="E6EEF8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1554480" y="2340864"/>
            <a:ext cx="3154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OTDR 측정 작업 실행 기능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2340864"/>
            <a:ext cx="822960" cy="384048"/>
          </a:xfrm>
          <a:prstGeom prst="rect">
            <a:avLst/>
          </a:prstGeom>
          <a:solidFill>
            <a:srgbClr val="F8FAFD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30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2340864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분석/설계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2340864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스케줄러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69480" y="2340864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Task 실행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38160" y="2340864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상태관리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06840" y="2340864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튜닝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75519" y="2340864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2724912"/>
            <a:ext cx="1234440" cy="384048"/>
          </a:xfrm>
          <a:prstGeom prst="rect">
            <a:avLst/>
          </a:prstGeom>
          <a:solidFill>
            <a:srgbClr val="E6EEF8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2724912"/>
            <a:ext cx="3154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OTDR 측정 결과 조회 기능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09160" y="2724912"/>
            <a:ext cx="822960" cy="384048"/>
          </a:xfrm>
          <a:prstGeom prst="rect">
            <a:avLst/>
          </a:prstGeom>
          <a:solidFill>
            <a:srgbClr val="F8FAFD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35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32120" y="2724912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분석/설계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724912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결과수집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69480" y="2724912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SOR 분석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38160" y="2724912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저장/UI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06840" y="2724912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개선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75519" y="2724912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적용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3108960"/>
            <a:ext cx="1234440" cy="384048"/>
          </a:xfrm>
          <a:prstGeom prst="rect">
            <a:avLst/>
          </a:prstGeom>
          <a:solidFill>
            <a:srgbClr val="E6EEF8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/>
            </a:r>
          </a:p>
        </p:txBody>
      </p:sp>
      <p:sp>
        <p:nvSpPr>
          <p:cNvPr id="49" name="Rectangle 48"/>
          <p:cNvSpPr/>
          <p:nvPr/>
        </p:nvSpPr>
        <p:spPr>
          <a:xfrm>
            <a:off x="1554480" y="3108960"/>
            <a:ext cx="3154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EMS 자동점검 조회 기능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09160" y="3108960"/>
            <a:ext cx="822960" cy="384048"/>
          </a:xfrm>
          <a:prstGeom prst="rect">
            <a:avLst/>
          </a:prstGeom>
          <a:solidFill>
            <a:srgbClr val="F8FAFD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20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32120" y="3108960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분석/설계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108960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이력탐색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69480" y="3108960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자동분류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38160" y="3108960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저장/UI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06840" y="3108960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보완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75519" y="3108960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적용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3493008"/>
            <a:ext cx="1234440" cy="384048"/>
          </a:xfrm>
          <a:prstGeom prst="rect">
            <a:avLst/>
          </a:prstGeom>
          <a:solidFill>
            <a:srgbClr val="E6EEF8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TANGO/GIS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54480" y="3493008"/>
            <a:ext cx="3154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TANGO 링 정보 연동 기능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09160" y="3493008"/>
            <a:ext cx="822960" cy="384048"/>
          </a:xfrm>
          <a:prstGeom prst="rect">
            <a:avLst/>
          </a:prstGeom>
          <a:solidFill>
            <a:srgbClr val="F8FAFD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15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32120" y="349300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협의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349300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규격정의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69480" y="349300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연동개발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38160" y="349300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테스트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06840" y="349300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적용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75519" y="349300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3877056"/>
            <a:ext cx="1234440" cy="384048"/>
          </a:xfrm>
          <a:prstGeom prst="rect">
            <a:avLst/>
          </a:prstGeom>
          <a:solidFill>
            <a:srgbClr val="E6EEF8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/>
            </a:r>
          </a:p>
        </p:txBody>
      </p:sp>
      <p:sp>
        <p:nvSpPr>
          <p:cNvPr id="67" name="Rectangle 66"/>
          <p:cNvSpPr/>
          <p:nvPr/>
        </p:nvSpPr>
        <p:spPr>
          <a:xfrm>
            <a:off x="1554480" y="3877056"/>
            <a:ext cx="3154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GIS 선번 정보 연동 기능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09160" y="3877056"/>
            <a:ext cx="822960" cy="384048"/>
          </a:xfrm>
          <a:prstGeom prst="rect">
            <a:avLst/>
          </a:prstGeom>
          <a:solidFill>
            <a:srgbClr val="F8FAFD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32120" y="3877056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협의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00800" y="3877056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규격정의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9480" y="3877056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연동개발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38160" y="3877056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조회UI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006840" y="3877056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테스트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875519" y="3877056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적용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040" y="4261104"/>
            <a:ext cx="1234440" cy="384048"/>
          </a:xfrm>
          <a:prstGeom prst="rect">
            <a:avLst/>
          </a:prstGeom>
          <a:solidFill>
            <a:srgbClr val="E6EEF8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NOKIA 자동점검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554480" y="4261104"/>
            <a:ext cx="3154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NOKIA OTDR Event 연동 기능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709160" y="4261104"/>
            <a:ext cx="822960" cy="384048"/>
          </a:xfrm>
          <a:prstGeom prst="rect">
            <a:avLst/>
          </a:prstGeom>
          <a:solidFill>
            <a:srgbClr val="F8FAFD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25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532120" y="4261104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분석/설계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00800" y="4261104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Kafka 연동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69480" y="4261104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이벤트 판별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138160" y="4261104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연동개발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006840" y="4261104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테스트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875519" y="4261104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적용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20040" y="4645152"/>
            <a:ext cx="1234440" cy="384048"/>
          </a:xfrm>
          <a:prstGeom prst="rect">
            <a:avLst/>
          </a:prstGeom>
          <a:solidFill>
            <a:srgbClr val="E6EEF8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/>
            </a:r>
          </a:p>
        </p:txBody>
      </p:sp>
      <p:sp>
        <p:nvSpPr>
          <p:cNvPr id="85" name="Rectangle 84"/>
          <p:cNvSpPr/>
          <p:nvPr/>
        </p:nvSpPr>
        <p:spPr>
          <a:xfrm>
            <a:off x="1554480" y="4645152"/>
            <a:ext cx="3154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NOKIA EMS 자동 점검 조회 기능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709160" y="4645152"/>
            <a:ext cx="822960" cy="384048"/>
          </a:xfrm>
          <a:prstGeom prst="rect">
            <a:avLst/>
          </a:prstGeom>
          <a:solidFill>
            <a:srgbClr val="F8FAFD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10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532120" y="4645152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결과수집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00800" y="4645152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화면개선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269480" y="4645152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테스트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138160" y="4645152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적용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006840" y="4645152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9875519" y="4645152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/>
            </a:r>
          </a:p>
        </p:txBody>
      </p:sp>
      <p:sp>
        <p:nvSpPr>
          <p:cNvPr id="93" name="Rectangle 92"/>
          <p:cNvSpPr/>
          <p:nvPr/>
        </p:nvSpPr>
        <p:spPr>
          <a:xfrm>
            <a:off x="320040" y="5029200"/>
            <a:ext cx="1234440" cy="384048"/>
          </a:xfrm>
          <a:prstGeom prst="rect">
            <a:avLst/>
          </a:prstGeom>
          <a:solidFill>
            <a:srgbClr val="E6EEF8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선로 길이 보정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554480" y="5029200"/>
            <a:ext cx="3154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OTDR 선로 길이 보정 기능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09160" y="5029200"/>
            <a:ext cx="822960" cy="384048"/>
          </a:xfrm>
          <a:prstGeom prst="rect">
            <a:avLst/>
          </a:prstGeom>
          <a:solidFill>
            <a:srgbClr val="F8FAFD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10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532120" y="5029200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설계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00800" y="5029200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API 수정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269480" y="5029200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그래프 수정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138160" y="5029200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검증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6840" y="5029200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적용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875519" y="5029200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/>
            </a:r>
          </a:p>
        </p:txBody>
      </p:sp>
      <p:sp>
        <p:nvSpPr>
          <p:cNvPr id="102" name="Rectangle 101"/>
          <p:cNvSpPr/>
          <p:nvPr/>
        </p:nvSpPr>
        <p:spPr>
          <a:xfrm>
            <a:off x="320040" y="5413248"/>
            <a:ext cx="1234440" cy="384048"/>
          </a:xfrm>
          <a:prstGeom prst="rect">
            <a:avLst/>
          </a:prstGeom>
          <a:solidFill>
            <a:srgbClr val="E6EEF8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보고서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554480" y="5413248"/>
            <a:ext cx="3154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링단위 측정 결과 보고서 생성 기능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709160" y="5413248"/>
            <a:ext cx="822960" cy="384048"/>
          </a:xfrm>
          <a:prstGeom prst="rect">
            <a:avLst/>
          </a:prstGeom>
          <a:solidFill>
            <a:srgbClr val="F8FAFD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1">
                <a:solidFill>
                  <a:srgbClr val="222222"/>
                </a:solidFill>
              </a:rPr>
              <a:t>40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532120" y="541324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분석/설계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400800" y="541324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통계로직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269480" y="541324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배치/API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138160" y="541324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UI 개발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006840" y="541324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테스트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875519" y="5413248"/>
            <a:ext cx="8686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BE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19" b="0">
                <a:solidFill>
                  <a:srgbClr val="222222"/>
                </a:solidFill>
              </a:rPr>
              <a:t>적용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1480" y="61264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※ xlsx 원본에는 M/D와 인력등급 정보가 포함되어 있으나, 본 슬라이드는 요청사항에 따라 기능별 진행 일정만 표시함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