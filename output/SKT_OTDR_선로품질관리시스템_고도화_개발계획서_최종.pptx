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68580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2743"/>
                </a:solidFill>
              </a:rPr>
              <a:t>SKT OTDR
선로품질관리시스템 고도화
개발 계획서</a:t>
            </a:r>
          </a:p>
          <a:p>
            <a:pPr>
              <a:defRPr sz="1600">
                <a:solidFill>
                  <a:srgbClr val="292929"/>
                </a:solidFill>
              </a:defRPr>
            </a:pPr>
            <a:r>
              <a:t>배경: 기간망 OTDR 운영 자동화 및 EMS 연동 고도화</a:t>
            </a:r>
          </a:p>
          <a:p>
            <a:pPr>
              <a:defRPr sz="1400">
                <a:solidFill>
                  <a:srgbClr val="292929"/>
                </a:solidFill>
              </a:defRPr>
            </a:pPr>
            <a:r>
              <a:t>작성자: 입력</a:t>
            </a:r>
          </a:p>
          <a:p>
            <a:pPr>
              <a:defRPr sz="1400">
                <a:solidFill>
                  <a:srgbClr val="292929"/>
                </a:solidFill>
              </a:defRPr>
            </a:pPr>
            <a:r>
              <a:t>날짜: 입력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0" y="1005840"/>
            <a:ext cx="32918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321040" y="1325880"/>
            <a:ext cx="2651760" cy="1051560"/>
          </a:xfrm>
          <a:prstGeom prst="roundRect">
            <a:avLst/>
          </a:prstGeom>
          <a:solidFill>
            <a:srgbClr val="D63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SKT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2743200"/>
            <a:ext cx="2468880" cy="457200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기간망 EMS 연동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3401568"/>
            <a:ext cx="2468880" cy="457200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OTDR 운영 자동화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4059935"/>
            <a:ext cx="2468880" cy="457200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품질관리 고도화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2. HUAWEI 장비 인벤토리 정보 조회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HUAWEI NCE REST API 기반 인벤토리 수집, 분석, 저장, 조회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029200" cy="347472"/>
          </a:xfrm>
          <a:prstGeom prst="rect">
            <a:avLst/>
          </a:prstGeom>
          <a:solidFill>
            <a:srgbClr val="245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핵심 기능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56232"/>
            <a:ext cx="4700016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장비/서비스 Port/OTDR Port 수집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network-id, node-id, port-id 단계별 조회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SFTP 보조 연계와 Pagination 처리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657600"/>
            <a:ext cx="5029200" cy="347472"/>
          </a:xfrm>
          <a:prstGeom prst="rect">
            <a:avLst/>
          </a:prstGeom>
          <a:solidFill>
            <a:srgbClr val="7159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분석 및 저장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096512"/>
            <a:ext cx="470001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Link 분석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OTDR Port-서비스 Port 연관성 분석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OTDR DB 테이블 저장 및 Web UI 조회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기능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783080"/>
            <a:ext cx="114300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NCE 인증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783080"/>
            <a:ext cx="132588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Inventory 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72600" y="1783080"/>
            <a:ext cx="132588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수집/정규화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743200"/>
            <a:ext cx="123444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Link 분석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2743200"/>
            <a:ext cx="123444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Port 매핑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749039"/>
            <a:ext cx="132588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OTDR 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3749039"/>
            <a:ext cx="114300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Web UI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52360" y="2011680"/>
            <a:ext cx="274319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5256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467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1268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086600" y="2971800"/>
            <a:ext cx="4572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229600" y="2971800"/>
            <a:ext cx="59436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680960" y="3154680"/>
            <a:ext cx="45720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549640" y="3154680"/>
            <a:ext cx="59436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3. HUAWEI OTDR 측정 Profile 관리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Link 단위 OTDR 측정 Profile과 Default Profile 정책 관리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029200" cy="347472"/>
          </a:xfrm>
          <a:prstGeom prst="rect">
            <a:avLst/>
          </a:prstGeom>
          <a:solidFill>
            <a:srgbClr val="245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핵심 기능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56232"/>
            <a:ext cx="4700016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Profile 생성/조회/수정/삭제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Default Profile 별도 관리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측정 작업 생성 시 API 파라미터 전달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657600"/>
            <a:ext cx="5029200" cy="347472"/>
          </a:xfrm>
          <a:prstGeom prst="rect">
            <a:avLst/>
          </a:prstGeom>
          <a:solidFill>
            <a:srgbClr val="7159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보강 제안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096512"/>
            <a:ext cx="470001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평균화 횟수, 샘플링 해상도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파장 선택값, 임계치 버전 관리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필드별 허용 범위와 권장값 안내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기능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783080"/>
            <a:ext cx="114300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Web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783080"/>
            <a:ext cx="132588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Profile 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72600" y="1783080"/>
            <a:ext cx="132588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Default 정책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2743200"/>
            <a:ext cx="141732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Profile 저장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2743200"/>
            <a:ext cx="141732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파라미터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749039"/>
            <a:ext cx="132588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OTDR DB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52360" y="2011680"/>
            <a:ext cx="274319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5256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467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1268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86600" y="2971800"/>
            <a:ext cx="4572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59436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80960" y="3154680"/>
            <a:ext cx="45720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49640" y="3154680"/>
            <a:ext cx="59436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4. HUAWEI OTDR 측정 작업 실행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측정 등록, 스케줄링, 실행, 상태 관리까지의 전주기 자동화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029200" cy="347472"/>
          </a:xfrm>
          <a:prstGeom prst="rect">
            <a:avLst/>
          </a:prstGeom>
          <a:solidFill>
            <a:srgbClr val="245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핵심 기능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56232"/>
            <a:ext cx="4700016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정기/장애/작업/Baseline 측정 분리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우선순위/동시성 조건 기반 스케줄링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NCE 측정 요청 후 Polling 또는 Event 상태관리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657600"/>
            <a:ext cx="5029200" cy="347472"/>
          </a:xfrm>
          <a:prstGeom prst="rect">
            <a:avLst/>
          </a:prstGeom>
          <a:solidFill>
            <a:srgbClr val="7159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운영 설정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096512"/>
            <a:ext cx="470001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OTDR 동시 측정 수 제한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API 동시 호출 제한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유형별 스케줄러 옵션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기능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32588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측정 등록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1783080"/>
            <a:ext cx="141732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구성정보 조회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1783080"/>
            <a:ext cx="114300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스케줄러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743200"/>
            <a:ext cx="123444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Task 실행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2743200"/>
            <a:ext cx="123444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상태관리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749039"/>
            <a:ext cx="132588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NCE OTDR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52360" y="2011680"/>
            <a:ext cx="274319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5256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467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1268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86600" y="2971800"/>
            <a:ext cx="4572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59436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80960" y="3154680"/>
            <a:ext cx="45720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49640" y="3154680"/>
            <a:ext cx="59436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5. HUAWEI OTDR 측정 결과 조회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측정 결과 수집, SOR 분석, 통합 조회 화면 개선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029200" cy="347472"/>
          </a:xfrm>
          <a:prstGeom prst="rect">
            <a:avLst/>
          </a:prstGeom>
          <a:solidFill>
            <a:srgbClr val="245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핵심 기능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56232"/>
            <a:ext cx="4700016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Task 응답과 SOR 파일 수집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표준 SOR 파일 파싱 및 결과 저장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기존 결과 조회 화면에 HUAWEI 결과 통합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657600"/>
            <a:ext cx="5029200" cy="347472"/>
          </a:xfrm>
          <a:prstGeom prst="rect">
            <a:avLst/>
          </a:prstGeom>
          <a:solidFill>
            <a:srgbClr val="7159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보강 제안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096512"/>
            <a:ext cx="470001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Event별 loss classification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품질 등급 및 이상패턴 요약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비교 탐색과 결과 시각화 강화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기능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783080"/>
            <a:ext cx="114300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결과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783080"/>
            <a:ext cx="123444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SOR 수집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783080"/>
            <a:ext cx="132588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파싱/분석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6600" y="2743200"/>
            <a:ext cx="132588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결과 저장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2743200"/>
            <a:ext cx="150876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통합 조회 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3749039"/>
            <a:ext cx="132588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이력 비교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52360" y="2011680"/>
            <a:ext cx="274319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5256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467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1268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86600" y="2971800"/>
            <a:ext cx="4572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59436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80960" y="3154680"/>
            <a:ext cx="45720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49640" y="3154680"/>
            <a:ext cx="59436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6. HUAWEI EMS 자동점검 조회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자동점검 이력 탐색과 결과 수집/저장 및 실시간 연동 검토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029200" cy="347472"/>
          </a:xfrm>
          <a:prstGeom prst="rect">
            <a:avLst/>
          </a:prstGeom>
          <a:solidFill>
            <a:srgbClr val="245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핵심 기능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56232"/>
            <a:ext cx="4700016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주기 Polling 기반 자동점검 이력 탐색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수동/자동 측정 혼재 환경에서 자동점검 Task 분류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자동점검 결과 수집/분석/저장 후 UI 조회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657600"/>
            <a:ext cx="5029200" cy="347472"/>
          </a:xfrm>
          <a:prstGeom prst="rect">
            <a:avLst/>
          </a:prstGeom>
          <a:solidFill>
            <a:srgbClr val="7159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운영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096512"/>
            <a:ext cx="470001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조회 시간범위 관리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이벤트 실시간 연동 방안 검토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조회 주기 설정 기능 제공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기능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41732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EMS Task 이력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783080"/>
            <a:ext cx="132588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Polling 탐색기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1783080"/>
            <a:ext cx="132588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자동점검 분류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2743200"/>
            <a:ext cx="132588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결과 저장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0" y="2743200"/>
            <a:ext cx="141732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실시간 연동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749039"/>
            <a:ext cx="123444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조회 UI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52360" y="2011680"/>
            <a:ext cx="274319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5256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467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1268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86600" y="2971800"/>
            <a:ext cx="4572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59436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80960" y="3154680"/>
            <a:ext cx="45720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49640" y="3154680"/>
            <a:ext cx="59436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7. TANGO 링 정보, GIS 선번 정보 연동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수동 업로드 기반 구성정보 갱신을 M2M 방식으로 자동화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029200" cy="347472"/>
          </a:xfrm>
          <a:prstGeom prst="rect">
            <a:avLst/>
          </a:prstGeom>
          <a:solidFill>
            <a:srgbClr val="245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핵심 기능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56232"/>
            <a:ext cx="4700016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Tango 링 정보, GIS 선번 정보 연동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REST API/Kafka/SFTP 등 규격 협의 후 개발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연동 데이터 저장 및 조회 화면 제공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657600"/>
            <a:ext cx="5029200" cy="347472"/>
          </a:xfrm>
          <a:prstGeom prst="rect">
            <a:avLst/>
          </a:prstGeom>
          <a:solidFill>
            <a:srgbClr val="7159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기대 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096512"/>
            <a:ext cx="470001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수동 업로드 제거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구성정보 최신성 확보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운영자 조회 편의성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기능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783080"/>
            <a:ext cx="123444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Tango/GIS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1783080"/>
            <a:ext cx="123444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연동 규격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783080"/>
            <a:ext cx="123444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연동 모듈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6600" y="2743200"/>
            <a:ext cx="141732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구성정보 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2743200"/>
            <a:ext cx="123444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조회 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3749039"/>
            <a:ext cx="141732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자동화 운영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52360" y="2011680"/>
            <a:ext cx="274319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5256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467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1268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86600" y="2971800"/>
            <a:ext cx="4572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59436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80960" y="3154680"/>
            <a:ext cx="45720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49640" y="3154680"/>
            <a:ext cx="59436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8. NOKIA EMS 자동점검 조회 기능 개발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Kafka 이벤트 기반으로 NOKIA 자동점검 측정 실시간 연동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029200" cy="347472"/>
          </a:xfrm>
          <a:prstGeom prst="rect">
            <a:avLst/>
          </a:prstGeom>
          <a:solidFill>
            <a:srgbClr val="245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핵심 기능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56232"/>
            <a:ext cx="4700016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Kafka SASL_SSL 인증과 이벤트 토픽 연동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자동점검 이벤트 판별 및 결과 수집 모듈 전달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SOR 포함 측정결과 저장과 화면 개선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657600"/>
            <a:ext cx="5029200" cy="347472"/>
          </a:xfrm>
          <a:prstGeom prst="rect">
            <a:avLst/>
          </a:prstGeom>
          <a:solidFill>
            <a:srgbClr val="7159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기대 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096512"/>
            <a:ext cx="470001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Polling 부하 절감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실시간 탐지 강화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기존 화면 고도화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기능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783080"/>
            <a:ext cx="123444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Kafka 인증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1783080"/>
            <a:ext cx="123444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이벤트 구독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783080"/>
            <a:ext cx="141732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자동점검 판별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6600" y="2743200"/>
            <a:ext cx="132588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결과 수집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2743200"/>
            <a:ext cx="123444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SOR 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3749039"/>
            <a:ext cx="141732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자동점검 UI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52360" y="2011680"/>
            <a:ext cx="274319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5256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467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1268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86600" y="2971800"/>
            <a:ext cx="4572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59436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80960" y="3154680"/>
            <a:ext cx="45720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49640" y="3154680"/>
            <a:ext cx="59436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9. OTDR 선로 길이 보정 기능 개발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Source Port 기준 거리 보정으로 Trace 그래프 정확도 향상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029200" cy="347472"/>
          </a:xfrm>
          <a:prstGeom prst="rect">
            <a:avLst/>
          </a:prstGeom>
          <a:solidFill>
            <a:srgbClr val="245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핵심 기능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56232"/>
            <a:ext cx="4700016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Source Port~첫 FDF 거리 추가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FDF 위치 보정 계산 로직 적용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보정된 위치를 OTDR Trace 그래프에 표시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657600"/>
            <a:ext cx="5029200" cy="347472"/>
          </a:xfrm>
          <a:prstGeom prst="rect">
            <a:avLst/>
          </a:prstGeom>
          <a:solidFill>
            <a:srgbClr val="7159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기대 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096512"/>
            <a:ext cx="470001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실제 선로 거리와 그래프 정합성 향상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분석 정확도 개선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운영 검증 편의성 강화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기능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783080"/>
            <a:ext cx="114300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거리정보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783080"/>
            <a:ext cx="123444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보정 계산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783080"/>
            <a:ext cx="114300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API 수정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2743200"/>
            <a:ext cx="123444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Trace 적용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2743200"/>
            <a:ext cx="123444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위치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3749039"/>
            <a:ext cx="141732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시각화 개선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52360" y="2011680"/>
            <a:ext cx="274319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5256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467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1268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86600" y="2971800"/>
            <a:ext cx="4572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59436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80960" y="3154680"/>
            <a:ext cx="45720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49640" y="3154680"/>
            <a:ext cx="59436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10. OTDR 측정 결과 보고서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링 단위 정기/수동 보고서 생성과 비교 분석 기능 제공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029200" cy="347472"/>
          </a:xfrm>
          <a:prstGeom prst="rect">
            <a:avLst/>
          </a:prstGeom>
          <a:solidFill>
            <a:srgbClr val="245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핵심 기능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56232"/>
            <a:ext cx="4700016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자동/수동 보고서 생성 모드 지원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측정 기간, 측정 종류, 비교 대상 기준 통계 산출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DB 저장 후 Backend API와 Web UI 조회 제공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657600"/>
            <a:ext cx="5029200" cy="347472"/>
          </a:xfrm>
          <a:prstGeom prst="rect">
            <a:avLst/>
          </a:prstGeom>
          <a:solidFill>
            <a:srgbClr val="7159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운영 기능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096512"/>
            <a:ext cx="470001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보고서 생성 주기 설정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대상 측정 종류 설정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이전 보고서와 차이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기능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783080"/>
            <a:ext cx="123444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보고서 생성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1783080"/>
            <a:ext cx="123444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통계 산출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783080"/>
            <a:ext cx="123444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비교 분석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6600" y="2743200"/>
            <a:ext cx="123444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보고서 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2743200"/>
            <a:ext cx="123444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API/배치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3749039"/>
            <a:ext cx="123444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조회 UI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52360" y="2011680"/>
            <a:ext cx="274319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5256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467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1268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86600" y="2971800"/>
            <a:ext cx="4572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59436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80960" y="3154680"/>
            <a:ext cx="45720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49640" y="3154680"/>
            <a:ext cx="59436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11. 개발 일정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기능별 M ~ M+5 진행 일정을 색상으로 표현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25880"/>
            <a:ext cx="1298448" cy="384048"/>
          </a:xfrm>
          <a:prstGeom prst="round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구분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1325880"/>
            <a:ext cx="3721607" cy="384048"/>
          </a:xfrm>
          <a:prstGeom prst="round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기능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0" y="1325880"/>
            <a:ext cx="841247" cy="384048"/>
          </a:xfrm>
          <a:prstGeom prst="round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325880"/>
            <a:ext cx="841247" cy="384048"/>
          </a:xfrm>
          <a:prstGeom prst="round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M+1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1325880"/>
            <a:ext cx="841247" cy="384048"/>
          </a:xfrm>
          <a:prstGeom prst="round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M+2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25880"/>
            <a:ext cx="841247" cy="384048"/>
          </a:xfrm>
          <a:prstGeom prst="round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M+3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19" y="1325880"/>
            <a:ext cx="841247" cy="384048"/>
          </a:xfrm>
          <a:prstGeom prst="round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M+4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9799" y="1325880"/>
            <a:ext cx="841247" cy="384048"/>
          </a:xfrm>
          <a:prstGeom prst="round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M+5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1783080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92929"/>
                </a:solidFill>
              </a:rPr>
              <a:t>HUAWEI 연동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37360" y="1783080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0">
                <a:solidFill>
                  <a:srgbClr val="292929"/>
                </a:solidFill>
              </a:rPr>
              <a:t>장비 인벤토리 정보 조회 기능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178308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1783080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1783080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783080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19" y="1783080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799" y="1783080"/>
            <a:ext cx="841247" cy="347472"/>
          </a:xfrm>
          <a:prstGeom prst="roundRect">
            <a:avLst/>
          </a:prstGeom>
          <a:solidFill>
            <a:srgbClr val="D63F36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167128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0">
                <a:solidFill>
                  <a:srgbClr val="292929"/>
                </a:solidFill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37360" y="2167128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0">
                <a:solidFill>
                  <a:srgbClr val="292929"/>
                </a:solidFill>
              </a:rPr>
              <a:t>OTDR 측정 Profile 관리 기능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0" y="2167128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2167128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23760" y="2167128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2167128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19" y="2167128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29799" y="2167128"/>
            <a:ext cx="841247" cy="347472"/>
          </a:xfrm>
          <a:prstGeom prst="roundRect">
            <a:avLst/>
          </a:prstGeom>
          <a:solidFill>
            <a:srgbClr val="D63F36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2551176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0">
                <a:solidFill>
                  <a:srgbClr val="292929"/>
                </a:solidFill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737360" y="2551176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0">
                <a:solidFill>
                  <a:srgbClr val="292929"/>
                </a:solidFill>
              </a:rPr>
              <a:t>OTDR 측정 작업 실행 기능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0" y="2551176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55080" y="2551176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23760" y="2551176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2551176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2551176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29799" y="2551176"/>
            <a:ext cx="841247" cy="347472"/>
          </a:xfrm>
          <a:prstGeom prst="roundRect">
            <a:avLst/>
          </a:prstGeom>
          <a:solidFill>
            <a:srgbClr val="D63F36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2935224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0">
                <a:solidFill>
                  <a:srgbClr val="292929"/>
                </a:solidFill>
              </a:rPr>
              <a:t/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737360" y="2935224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0">
                <a:solidFill>
                  <a:srgbClr val="292929"/>
                </a:solidFill>
              </a:rPr>
              <a:t>OTDR 측정 결과 조회 기능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0" y="2935224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55080" y="2935224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23760" y="2935224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92440" y="2935224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61119" y="2935224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29799" y="2935224"/>
            <a:ext cx="841247" cy="347472"/>
          </a:xfrm>
          <a:prstGeom prst="roundRect">
            <a:avLst/>
          </a:prstGeom>
          <a:solidFill>
            <a:srgbClr val="D63F36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3319272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0">
                <a:solidFill>
                  <a:srgbClr val="292929"/>
                </a:solidFill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737360" y="3319272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0">
                <a:solidFill>
                  <a:srgbClr val="292929"/>
                </a:solidFill>
              </a:rPr>
              <a:t>EMS 자동점검 조회 기능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0" y="3319272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55080" y="3319272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23760" y="3319272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92440" y="3319272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61119" y="3319272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829799" y="3319272"/>
            <a:ext cx="841247" cy="347472"/>
          </a:xfrm>
          <a:prstGeom prst="roundRect">
            <a:avLst/>
          </a:prstGeom>
          <a:solidFill>
            <a:srgbClr val="D63F36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0" y="3703320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92929"/>
                </a:solidFill>
              </a:rPr>
              <a:t>TANGO/GIS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37360" y="3703320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0">
                <a:solidFill>
                  <a:srgbClr val="292929"/>
                </a:solidFill>
              </a:rPr>
              <a:t>TANGO 링 정보 연동 기능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0" y="370332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55080" y="3703320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223760" y="3703320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92440" y="3703320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61119" y="3703320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29799" y="3703320"/>
            <a:ext cx="841247" cy="347472"/>
          </a:xfrm>
          <a:prstGeom prst="roundRect">
            <a:avLst/>
          </a:prstGeom>
          <a:solidFill>
            <a:srgbClr val="ECF0F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1480" y="4087368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0">
                <a:solidFill>
                  <a:srgbClr val="292929"/>
                </a:solidFill>
              </a:rPr>
              <a:t/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737360" y="4087368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0">
                <a:solidFill>
                  <a:srgbClr val="292929"/>
                </a:solidFill>
              </a:rPr>
              <a:t>GIS 선번 정보 연동 기능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0" y="4087368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355080" y="4087368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223760" y="4087368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92440" y="4087368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961119" y="4087368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829799" y="4087368"/>
            <a:ext cx="841247" cy="347472"/>
          </a:xfrm>
          <a:prstGeom prst="roundRect">
            <a:avLst/>
          </a:prstGeom>
          <a:solidFill>
            <a:srgbClr val="D63F36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11480" y="4471416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92929"/>
                </a:solidFill>
              </a:rPr>
              <a:t>NOKIA 자동점검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737360" y="4471416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0">
                <a:solidFill>
                  <a:srgbClr val="292929"/>
                </a:solidFill>
              </a:rPr>
              <a:t>NOKIA OTDR Event 연동 기능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86400" y="4471416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355080" y="4471416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223760" y="4471416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092440" y="4471416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961119" y="4471416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29799" y="4471416"/>
            <a:ext cx="841247" cy="347472"/>
          </a:xfrm>
          <a:prstGeom prst="roundRect">
            <a:avLst/>
          </a:prstGeom>
          <a:solidFill>
            <a:srgbClr val="D63F36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11480" y="4855464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0">
                <a:solidFill>
                  <a:srgbClr val="292929"/>
                </a:solidFill>
              </a:rPr>
              <a:t/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737360" y="4855464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0">
                <a:solidFill>
                  <a:srgbClr val="292929"/>
                </a:solidFill>
              </a:rPr>
              <a:t>NOKIA EMS 자동 점검 조회 기능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86400" y="4855464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355080" y="4855464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223760" y="4855464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092440" y="4855464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961119" y="4855464"/>
            <a:ext cx="841247" cy="347472"/>
          </a:xfrm>
          <a:prstGeom prst="roundRect">
            <a:avLst/>
          </a:prstGeom>
          <a:solidFill>
            <a:srgbClr val="ECF0F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829799" y="4855464"/>
            <a:ext cx="841247" cy="347472"/>
          </a:xfrm>
          <a:prstGeom prst="roundRect">
            <a:avLst/>
          </a:prstGeom>
          <a:solidFill>
            <a:srgbClr val="ECF0F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11480" y="5239512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92929"/>
                </a:solidFill>
              </a:rPr>
              <a:t>선로 길이 보정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737360" y="5239512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0">
                <a:solidFill>
                  <a:srgbClr val="292929"/>
                </a:solidFill>
              </a:rPr>
              <a:t>OTDR 선로 길이 보정 기능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486400" y="5239512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355080" y="5239512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223760" y="5239512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092440" y="5239512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961119" y="5239512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829799" y="5239512"/>
            <a:ext cx="841247" cy="347472"/>
          </a:xfrm>
          <a:prstGeom prst="roundRect">
            <a:avLst/>
          </a:prstGeom>
          <a:solidFill>
            <a:srgbClr val="ECF0F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11480" y="5623560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92929"/>
                </a:solidFill>
              </a:rPr>
              <a:t>보고서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737360" y="5623560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0">
                <a:solidFill>
                  <a:srgbClr val="292929"/>
                </a:solidFill>
              </a:rPr>
              <a:t>링단위 측정 결과 보고서 생성 기능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486400" y="562356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355080" y="5623560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223760" y="5623560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092440" y="5623560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961119" y="5623560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829799" y="5623560"/>
            <a:ext cx="841247" cy="347472"/>
          </a:xfrm>
          <a:prstGeom prst="roundRect">
            <a:avLst/>
          </a:prstGeom>
          <a:solidFill>
            <a:srgbClr val="D63F36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■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2920" y="5989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7080"/>
                </a:solidFill>
              </a:defRPr>
            </a:pPr>
            <a:r>
              <a:t>※ 색상 블록은 해당 월에 기능 개발이 진행됨을 의미하며, M/D 및 인력등급 표시는 제외함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